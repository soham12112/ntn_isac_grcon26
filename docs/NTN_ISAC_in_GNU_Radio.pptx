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80" r:id="rId22"/>
    <p:sldId id="281"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0"/>
    <p:restoredTop sz="94610"/>
  </p:normalViewPr>
  <p:slideViewPr>
    <p:cSldViewPr snapToGrid="0" snapToObjects="1">
      <p:cViewPr varScale="1">
        <p:scale>
          <a:sx n="123" d="100"/>
          <a:sy n="123" d="100"/>
        </p:scale>
        <p:origin x="2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0603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Title slide. Your opening material goes on the next two slides.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Integrated sensing and communication has made a comeback as an active research area, mostly because of its wide applications across IoT, drone detection, vehicular communications and remote sensing, all without allocating new spectrum, which is scarce. Many operators and partners have started developing and demonstrating base stations that enable ISAC applications, particularly drone detection and tracking. That is promising, but it depends on a dense network of base stations, which is often not the case in remote areas, where drone sensing can matter most. The convergence of ISAC and non-terrestrial networks is emerging as a key enabler for 6G. ISAC unifies radar sensing and wireless communication in a shared hardware and signal framework, while NTN extends connectivity to areas where infrastructure cannot reach. I see a lot of promise in NTN ISAC, especially over remote areas and oceans.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Most of the research literature highlights the challenges in NTN ISAC: the rapid motion of LEO satellites, the unmodified OFDM waveform and its limits, the need for tight clock synchronization across the bistatic nodes, and a lack of channel models for joint NTN communication and sensing, among others. I work in the 5G NTN space, and I am a fan of signals of opportunity: using existing signals meant for one thing to do something else entirely. So I wanted to explore how ISAC can work over LEO satellites from the point of view of an end user, a receiver on the ground. I wanted to build on current research and test the limits on actual hardware, so I took a few of these open questions and started building. First, a standalone simulator with standard 5G NR waveforms and a new channel block for a LEO system, where you can add moving and stationary objects and clutter and see how the echoes arrive at the receiver. Second, accuracy. Most of the literature uses pilot signals, which are broadcast periodically but are not dense. For sensing, a denser reference should do better. The receiver has already demodulated the data for communication, so why not use it for sensing too? That is payload-assisted sensing. Third, how this holds up on an actual hardware platform, across different synchronization levels and different RF chains, since that is a highlighted open research item. Wording tips so every claim is exact: say demodulated rather than decoded (the chain uses hard QPSK decisions, with no LDPC decoding). Payload-aided references are known from DVB-T and DAB passive radar (Poullin, 2005) and recent 5G NR passive radar; what is new here is doing it for NTN and comparing pilots, payload and genie from one dwell. The hardware tests so far are conducted over cable.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 am making this testbed public. It contains blocks for the LEO NTN ISAC channel, and the sensing receiver modules: coarse sensing, then refined fine sensing. The same blocks run on SDRs; so far they are tested conducted over cable, and they can be tested radiated as well. Why it matters: the NTN-ISAC literature is mostly analytical and the experimental work is closed, so there was nothing a GNU Radio user could pick up and try. gr-ntnisac is an out-of-tree module whose blocks sit on the GRC canvas next to ordinary sources and sinks. What is in the repo: the OOT module (C++ channel, Python sensing blocks), the DSP in py/ntn_isac, scene files in scenes/*.yml, tests with a target-absent control for every measurement, and a ZMQ dashboard. Map of the talk: first what an NTN link does to a signal (delay, resolution, long dwells, ephemeris, link budget), then the blocks (channel, detection, payload-aided reference), then results on real radios and why they differ from simulation, then next steps and an invitation to collaborate.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NTN, non-terrestrial networks: 3GPP Release 17 made 5G NR work over satellites, with new FR1 bands n255 (L-band) and n256 (S-band) and 5 to 20 MHz channels. The UE copes with the moving satellite using broadcast ephemeris (SIB19), timing advance and frequency pre-compensation on the uplink. The pass we emulate: a 550 km orbit, 67.5 degrees maximum elevation, a 10-minute window. Slant range goes from about 2170 km at the window edges down to 594 km at closest approach, so one-way delay goes from 7.2 ms to 2.0 ms and back: 5.3 ms of change. The range rate peaks at 6.64 km/s, which moves the delay by 22 µs every second. Doppler at our bench carrier of 2478 MHz reaches ±54.9 kHz and sweeps through zero at closest approach, changing fastest there (678 Hz/s). Signal strength: free-space path loss alone changes by 11 dB over the pass. The absolute received power also depends on the satellite's EIRP and both antennas; we treat the direct path's carrier-to-noise as an input (link budget slide). Note: 2478 MHz is ISM and our tests are conducted over cable. Real S-band NTN downlink (n256) is at 2170 to 2200 MHz; the numbers scale with carrier.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ISAC: integrated sensing and communication, one signal doing both jobs. Here the signal is a 5G NR downlink from a LEO satellite, and we only own the receiver. The receiver hears the direct path from the satellite, which is also the communication signal and therefore our reference for what was transmitted, and a weak echo off an object, arriving later. Correlating the echo against the reference gives two quantities per dwell: excess range (how much longer the echo's path was) and Doppler (how fast that path length is changing). One receiver with one antenna cannot say where the target is in 3-D, only how much longer its path was; the tracker state is just excess range and range rate. That is one reason combining several receivers is on the next-steps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Delay resolution depends only on bandwidth: one cell is c divided by the occupied bandwidth. Our waveform is a 5 MHz NR carrier: 25 PRB × 12 subcarriers × 15 kHz = 4.5 MHz occupied, so 66.6 m per cell. Two reflectors closer than that in excess path merge. More bandwidth would help (100 MHz gives about 3 m), but two separate limits apply. On our bench it is plumbing: 7.68 MS/s is already 30.7 MB/s each way over USB, and 100 MHz would need 122.88 MS/s, a 10 GbE USRP rather than a B200. In reality it is not our choice at all: we do not control the transmitter, and NTN carriers are 5 to 20 MHz. So 66.6 m cells are what a real NTN downlink would hand a real receiver. Doppler resolution is one over the coherent dwell: 100 ms gives 10 Hz cells, 1 s gives 1 Hz. So you want long dwells, which is exactly what the next slide is about.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Why long dwells are hard: the satellite moves so fast that the delay changes by 170 samples every second. Over a 100 ms coherent dwell the echo slides 17 samples, about 10 resolution cells, so its energy spreads over ten cells instead of stacking in one. This is range cell migration, standard in classical radar, and the NTN-ISAC surveys do not mention it. The fix is nearly free: a delay is a linear phase ramp across subcarriers. After shifting each symbol by a whole number of samples, the leftover fraction is removed by multiplying each subcarrier by a phase slope. Measured: +4.3 dB at a 100 ms dwell, +0.6 dB at 20 ms; the gain grows with dwell because the walk does. One subtlety that cost real time: index the retiming by arrival time, not transmit time. The two differ by the delay itself (up to about 5 ms here), which at 170 samples/s is about 0.85 samples of bias; measured, the peak sat at −0.85 samples before the fix and 0.000 after.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Same formula as before, now for wider carriers. Rel-17 NTN bands support 5, 10, 15 and 20 MHz carriers. At 15 kHz subcarrier spacing a 10 MHz carrier is 52 PRB (9.36 MHz occupied) and a 20 MHz carrier is 106 PRB (19.08 MHz occupied). Detection margin = direct C/N + 10·log10(occupied bandwidth × dwell) + echo-to-direct ratio − 13 dB threshold. The echo-to-direct ratio is σ / (4π R²), the target's RCS over the receiver-to-target distance; the satellite's range, power and antenna cancel from it. The key assumption: the satellite keeps the same EIRP per MHz when the carrier widens, so the direct C/N stays at 15 dB and the processing gain grows with bandwidth: +3.2 dB at 10 MHz and +6.3 dB at 20 MHz over today's 4.5 MHz. If instead the same total power is spread over a wider carrier, C/N drops by exactly as much as the processing gain rises: you gain resolution (32 m or 15.7 m cells), not SNR. A 1 s coherent dwell adds another 10 dB over 100 ms. What that buys, ideally: at 20 MHz and 100 ms a vehicle at 300 m and a small vessel at 1 km clear the 10 dB bar; at 20 MHz and 1 s so do a vessel at 5 km, and a 10 m² vehicle at 1 km, which is the same echo as a 0.1 m² drone at 100 m (−61 dB). A 0.1 m² drone at 300 m still does not. These are ideal numbers against thermal noise. The simulation campaign measured 3 to 12 dB of implementation loss, and on hardware a second limit appears: the direct path itself. Both come back after the real-radio results, where we close both budgets.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channel is emulated in software and played through real radios, which is why the truth is exact. It is one block, ntnisac.leo_channel, and it does one thing: a sum of delayed, scaled copies of the transmitted signal. Each path is a range history: a table of distance against time. The block reads it, divides by c to get a delay, and delays the signal by it, with a sinc interpolator for fractional delays. We deliberately do not inject Doppler anywhere: if a path should show a Doppler, its excess path is made to change at the matching rate, and the carrier phase produces the Doppler by itself. A delay and a Doppler specified separately would describe an object that cannot exist. The channel is a file contract, not an API: anything that adds a column to traj.csv adds a path, and nothing downstream needs to know where it came from. The C++ block matches the Python reference to 9e-8, the float32 floor.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scenes/bench_both.yml, trimmed. YAML is just indentation for nesting, a dash for a list item, key: value for a field. Four paths, each exercising something different. The satellite is the direct path and the reference. The clutter is a static scatterer 250 m of excess path out at −20 dB: it must not produce a track, because it has no Doppler and sits in the zero-Doppler notch. The path named drone is a linear mover at 640 m, growing 4.7 m/s, at −25 dB: exact commanded truth, and 4.7 m/s of excess-path rate gives −38.8 Hz at 2478 MHz. Be careful with the name: −25 dB is an echo-to-direct ratio, not a drone RCS. The blade is a rotating reflector, radius 0.25 m at 7 rev/s: its excess path oscillates, so its echo is a comb of Doppler lines. At 0.4 m of excess path it sits inside the direct path's own 66.6 m cell, so Doppler is its only observable. Adding an object is one block of YAML and a recompile with tools/build_scene.py. Every type can take window_s so an object exists for part of the pass. The TR 38.811 multipath option is off by default because its clusters have no ground truth.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Same dwell of the same waveform, six times, changing only the channel's path list. Read the top row left to right. Panel 1 is the direct path alone, the target-absent control: all the energy is the ridge at zero excess range and the red circle where the target would be is empty. Panel 2 adds the static clutter: a second blob at 250 m, at zero Doppler, inside the shaded notch, and it correctly produces no detection. Panel 3 adds the drone path: it appears at 640 m and −38.8 Hz, with the detector's yellow cross on the red truth circle. The bottom row turns the same object down to −35, −45 and −55 dB. It fades and at −55 dB it is nearly gone. pk/nf in the titles is peak-to-noise-floor: the highest point on the map (the direct path) over the map's noise floor. It is measured, not commanded, and it barely moves (82.0 to 82.2 dB) because the direct path is the same in every panel.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 cut across the map at the target's Doppler shows it more clearly than the images. The dark purple trace is the target-absent control; everything above it at 640 m is the object, and that vertical gap is the measurement. Without the control you would be looking at a bump and guessing. As the echo is turned down in 10 dB steps, the peak drops by about the same amount, which is what a measurement of the echo should do. The control also shows that the floor is not flat: the wiggles around 20 to 35 dB are the direct path's sidelobes. They are deterministic structure, not noise, and CFAR (which sets its threshold against noise) does not protect you from them. That is why the real-radio path subtracts the direct path (CLEAN) rather than thresholding around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 radar has to know what was transmitted to recognise its echo. For a signal we do not control there are three ways to know it. Reference-only uses just the pilots (DMRS), which are known in advance, so it always works even if nothing decodes; but pilots are a small, sparse part of the grid. Payload-aided demodulates the data, slices each symbol to the nearest QPSK point, and uses pilots plus those decisions as the reference: the whole occupied grid instead of the pilots. The catch is that every wrong decision puts an error into the reference. Genie uses the true transmitted grid from file. It is not deployable; it is the control that proves payload-aided is not cheating. Step 5 divides by the reference's magnitude, a reciprocal filter rather than a matched filter; with QPSK (constant modulus) the division adds no noise. The reconstruction idea is prior art from DVB-T/DAB passive radar (Poullin, 2005); what the block adds is all three variants from one dwell and one shared channel estimate, so the comparison is controlled. Grid Sense takes extra_variants for exactly that. Be precise if asked: these are hard QPSK decisions. There is no LDPC decoding in the chain.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sweep runs all three references on the same received dwell, which is what makes it a comparison. Payload-aided is worth about 3 dB of detection margin over pilots alone, and it costs nothing: it uses data the receiver already demodulated. At useful SNRs it tracks genie: within 0.5 dB from 8 dB Es/N0 up, and 0.1 dB at 12 dB. The red dashed line on the plot sits at 6 dB Es/N0: where payload-aided first falls a full dB behind genie. Left of it, the receiver's own decisions are wrong often enough (7% of symbols at 6 dB) that the rebuilt reference is measurably worse. The design had predicted that point at 12 dB, so payload-aided works over a wider SNR range than expected. Why a symbol error rate of 4.4e-4 at 12 dB costs nothing: the few wrong symbols are spread thinly across the whole aperture instead of piling up anywhere. If asked: measured SER is about 1 to 1.7 dB worse than ideal QPSK in AWGN, which is the loss from estimating the channel on two DMRS symbols per slot.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Building the full delay-Doppler map every dwell over the whole search space is expensive and mostly wasted. So detection is two blocks. Stage 1, SSB Coarse, uses only the synchronisation block: a tiny amount of data, cheap enough to run on every dwell. It produces a rough range and a gate: roughly where the target is and how sure it is. Stage 2, Grid Sense, uses the full grid with the payload-aided reference, inside stage 1's gate, and runs on every Nth dwell by decision. The message loop runs both ways and that is the design: stage 1 publishes coarse to stage 2; stage 2 publishes refine back into stage 1's tracker. Remove the return arrow and stage 1's Doppler ambiguity never gets resolved. The ambiguity in one line: one SSB per 20 ms means stage 1 samples the target's phase 50 times a second, so like any sampled signal it cannot tell apart frequencies 50 Hz apart. A target at −31.5 Hz reads +18.5 Hz, precisely wrong. No averaging fixes undersampling; you need the answer from somewhere else, which is stage 2. Timing: in the Python reference the full chain takes about 480 ms per 100 ms dwell, but stage 1 alone takes 82 ms, inside the dwell. That is the Python reference implementation, not a limit of the architecture. On the GRC canvas at stride 4: 14 stage-1 dwells, 4 stage-2, 10 skipped by decision.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gr-ntnisac/examples/ntnisac_ota_bench.grc, redrawn in full from the .grc file: the same receive chain as the real-radio flowgraph, with no radio. File Source plays the NR waveform, LEO Channel applies the satellite pass at 2.478 GHz, Es/N0 Noise sets the SNR (45 dB here), LEO Truth publishes commanded truth. The stream then feeds three sensing blocks: OTA Sense, SSB Coarse and Grid Sense, with the two stages exchanging coarse and refine messages. Results go to Message Print here; in the real-radio flowgraph the same messages go out over ZMQ to the dashboard. CLEAN is not a separate block: it is a step inside OTA Sense (n_clean = 2) and Grid Sense (clean_components = 1), and it is on in both. What CLEAN does, in one breath: it finds the strongest thing on the map, the direct path, estimates its exact delay, Doppler and complex gain, and subtracts it. Because our aperture is known exactly (it ships with the waveform), the direct path's shape on the map is known in closed form, so this is a least-squares fit of one number per tap, not an adaptive filter, and it removes nothing a target could occupy. Why we need it: the direct path is enormous, up to about 60 dB above the echoes we care about, and it has sidelobes that spread across the map. CFAR sets its threshold against noise, so it cannot tell these deterministic sidelobes from targets; they must be subtracted, not thresholded around. It matters most here because this bench scene is the direct path plus a rotating blade at 0.4 m of excess path, inside the direct path's own delay cell: without CLEAN the blade is buried under the direct path. In simulation CLEAN takes the direct path down 73.6 dB; on real radios 35 to 39 dB, which is the gap explained later.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Same blocks, now on real RF. The TX laptop runs File Source into LEO Channel into a USRP Sink, so the satellite pass and the targets are applied in software before transmission. The RX laptop runs a USRP Source into OTA Sense (the real-radio receive path: acquisition, CLEAN cancellation of the direct path, micro-Doppler) and into the two detection stages, with results out over ZMQ. This is conducted, not over the air: the two B200s are joined by coax, attenuators and a 4-way splitter. That is deliberate. It is the only setup where real hardware (DAC, filters, ADC, USB, clocks) and exact commanded truth exist at the same time, so any change from simulation is caused by the hardware alone. Over the air indoors, a real object adds under a metre of excess path, less than 1/50 of a delay cell. In the photo: left board transmitting (red TX/RX LED), right board receiving (green RX2 LED), both GPS-locked. Master clock 30.72 MHz so 7.68 MS/s is an exact decimation by 4. Two independent GPSDOs give a clock offset of about 1 to 3 parts per billion, and a GPS-timed start pins the transmit-to-receive offset.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a replay of a real conducted capture (data/lb1_mac.cf32, the macOS session). Every frame is one real 100 ms dwell, drawn from what the sensing block publishes, the same messages that go out over ZMQ to gr/ota_dashboard.py in a live run. Top left, BEFORE cancellation: the delay-Doppler map around the direct path. The bright ridge at zero excess range and zero Doppler is the direct path; its spread across delay and the horizontal stripes are its point spread function, structure rather than noise. Top middle, AFTER CLEAN: the same dwell with the modelled direct path subtracted, on the same colour scale. The ridge drops by 32 to 49 dB depending on the dwell (38.6 dB on average), but a residual remains. That residual is the gap to simulation on the next two slides. Top right, micro-Doppler profile: the Doppler cut at the direct path's own delay cell, which is where the blade is (0.4 m of excess path). Blue is before CLEAN, orange after. The blade shows up as lines spaced at its rotation rate within its Doppler edge; the card reports the edge (±110 Hz, a tip speed of 13.3 m/s against 11 m/s commanded). Caution on rotation: a 100 ms dwell gives 10 Hz cells against 7 Hz line spacing, so the per-dwell rate is a harmonic. The 1 s estimate reported 3.00 rev/s, which turned out to be the default bottom of the search range (rot_min_hz). With the floor raised it finds 7.00. Radius is not recovered. Bottom: direct path peak-to-noise stays near 80 dB every dwell (the coherent gain survives), while after-CLEAN depth wanders between 32 and 49 dB against 73.6 dB in simulation. Status text: locked, clock offset 0 (one radio), residual delay −0.016 samples, residual Doppler +0.06 Hz: the receiver is tracking the direct path precisely, so the shortfall is not a tracking error.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Two real-radio rungs against simulation. First, one B200 transmitting to itself, on two different machines (Linux and macOS). Then two hosts: one laptop transmitting, the other receiving, one B200 each, each on its own GPSDO. What survived: direct peak-to-noise, 80.0 dB predicted, 80.3 on one radio, 82.5 on two hosts. The whole receive chain (acquisition, de-ramping, retiming, de-walking, the map) does on a real DAC and ADC what it does in simulation. What did not: cancellation depth. CLEAN pulls the direct path down 73.6 dB in simulation, 38.6 on one radio, 34.8 on two hosts. That is 35 dB short, then 38.8 dB short. It reproduced on two machines with different operating systems and RF paths, so it is not software, and it followed the hardware onto two hosts, so it is not an artefact of one board transmitting to itself. Clock offset: zero by construction on one radio; about 1 to 3 parts per billion between two GPSDOs, with the sign changing between captures, as expected for two independent disciplined clocks. Do not quote the 2.18 dB better direct path on two hosts until a second capture agrees.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Combining several devices is the big one. One receiver measures excess range, which only places the target somewhere on a surface of constant path length around the transmitter and receiver. Several receivers give several such surfaces, and their intersection is a position; fusing detections across receivers also improves sensitivity and rejects false alarms. Several satellites or beams as illuminators add geometry the same way. Closing the cancellation gap: the previous slide's candidates, cheapest first. Decoding before rebuilding: today the reference uses hard decisions; LDPC decoding and re-encoding should extend payload-aided to lower SNR (a hypothesis, not measured). Real NTN signals: the waveform generator sits behind a file contract, so swapping in a real base station or a recorded downlink is meant to be a drop-in; it has not been done yet. Outdoors: indoors only Doppler is observable; delay needs tens of metres of excess path. Speed: the full sensing chain in Python takes about 480 ms per 100 ms dwell; stage 1 alone runs in 82 ms and keeps up, and the C++ channel already runs faster than real time.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ask: this should not be one person's module. Four places people can help. 3GPP NTN channel models: TR 38.811 defines NTN-TDL and NTN-CDL profiles and TR 38.821 the scenarios; gr-ntnisac has a TR 38.811 TDL path type, but proper, validated blocks would help everyone doing NTN work in GNU Radio, sensing or not. Real-time NTN emulation: passes, delay and Doppler, beams and handovers running on SDR hardware. ISAC channel models: 3GPP Release 19 added an ISAC channel model to TR 38.901 (section 7.9), with a target channel and a background channel; turning that into blocks would let people test sensing against a standard model. And receivers, detectors and data: better cancellers, trackers, multi-receiver fusion, and shared captures. Point people to the repo and the scene files: one YAML file is enough to start.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A27"/>
        </a:solidFill>
        <a:effectLst/>
      </p:bgPr>
    </p:bg>
    <p:spTree>
      <p:nvGrpSpPr>
        <p:cNvPr id="1" name=""/>
        <p:cNvGrpSpPr/>
        <p:nvPr/>
      </p:nvGrpSpPr>
      <p:grpSpPr>
        <a:xfrm>
          <a:off x="0" y="0"/>
          <a:ext cx="0" cy="0"/>
          <a:chOff x="0" y="0"/>
          <a:chExt cx="0" cy="0"/>
        </a:xfrm>
      </p:grpSpPr>
      <p:pic>
        <p:nvPicPr>
          <p:cNvPr id="2" name="Image 0" descr="Two USRP B200 boards glowing blue in the dark, cabled to a 4-way splitter"/>
          <p:cNvPicPr>
            <a:picLocks noChangeAspect="1"/>
          </p:cNvPicPr>
          <p:nvPr/>
        </p:nvPicPr>
        <p:blipFill>
          <a:blip r:embed="rId3"/>
          <a:srcRect l="617" r="617"/>
          <a:stretch/>
        </p:blipFill>
        <p:spPr>
          <a:xfrm>
            <a:off x="7111999" y="0"/>
            <a:ext cx="5079974" cy="6857984"/>
          </a:xfrm>
          <a:prstGeom prst="rect">
            <a:avLst/>
          </a:prstGeom>
        </p:spPr>
      </p:pic>
      <p:sp>
        <p:nvSpPr>
          <p:cNvPr id="3" name="Shape 0"/>
          <p:cNvSpPr/>
          <p:nvPr/>
        </p:nvSpPr>
        <p:spPr>
          <a:xfrm>
            <a:off x="7111999" y="0"/>
            <a:ext cx="5079974" cy="6857984"/>
          </a:xfrm>
          <a:prstGeom prst="rect">
            <a:avLst/>
          </a:prstGeom>
          <a:gradFill rotWithShape="1">
            <a:gsLst>
              <a:gs pos="0">
                <a:srgbClr val="111A27"/>
              </a:gs>
              <a:gs pos="45000">
                <a:srgbClr val="111A27">
                  <a:alpha val="15000"/>
                </a:srgbClr>
              </a:gs>
              <a:gs pos="100000">
                <a:srgbClr val="111A27">
                  <a:alpha val="0"/>
                </a:srgbClr>
              </a:gs>
            </a:gsLst>
            <a:lin ang="0" scaled="0"/>
          </a:gradFill>
          <a:ln/>
        </p:spPr>
        <p:txBody>
          <a:bodyPr/>
          <a:lstStyle/>
          <a:p>
            <a:endParaRPr lang="en-US"/>
          </a:p>
        </p:txBody>
      </p:sp>
      <p:sp>
        <p:nvSpPr>
          <p:cNvPr id="4" name="Text 1"/>
          <p:cNvSpPr/>
          <p:nvPr/>
        </p:nvSpPr>
        <p:spPr>
          <a:xfrm>
            <a:off x="812765" y="2320639"/>
            <a:ext cx="10883436" cy="238747"/>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2935C"/>
                </a:solidFill>
                <a:latin typeface="IBM Plex Sans" pitchFamily="34" charset="0"/>
                <a:ea typeface="IBM Plex Sans" pitchFamily="34" charset="-122"/>
                <a:cs typeface="IBM Plex Sans" pitchFamily="34" charset="-120"/>
              </a:rPr>
              <a:t>GRCON 2026</a:t>
            </a:r>
            <a:endParaRPr lang="en-US" sz="1200" dirty="0"/>
          </a:p>
        </p:txBody>
      </p:sp>
      <p:sp>
        <p:nvSpPr>
          <p:cNvPr id="5" name="Text 2"/>
          <p:cNvSpPr/>
          <p:nvPr/>
        </p:nvSpPr>
        <p:spPr>
          <a:xfrm>
            <a:off x="812765" y="2737144"/>
            <a:ext cx="6148025" cy="601450"/>
          </a:xfrm>
          <a:prstGeom prst="rect">
            <a:avLst/>
          </a:prstGeom>
          <a:noFill/>
          <a:ln/>
        </p:spPr>
        <p:txBody>
          <a:bodyPr wrap="square" lIns="0" tIns="0" rIns="0" bIns="0" rtlCol="0" anchor="t">
            <a:normAutofit/>
          </a:bodyPr>
          <a:lstStyle/>
          <a:p>
            <a:pPr marL="0" indent="0" algn="l">
              <a:lnSpc>
                <a:spcPts val="4536"/>
              </a:lnSpc>
              <a:buNone/>
            </a:pPr>
            <a:r>
              <a:rPr lang="en-US" sz="4200" b="1" dirty="0">
                <a:solidFill>
                  <a:srgbClr val="F3F1EC"/>
                </a:solidFill>
                <a:latin typeface="IBM Plex Sans" pitchFamily="34" charset="0"/>
                <a:ea typeface="IBM Plex Sans" pitchFamily="34" charset="-122"/>
                <a:cs typeface="IBM Plex Sans" pitchFamily="34" charset="-120"/>
              </a:rPr>
              <a:t>NTN ISAC in GNU Radio</a:t>
            </a:r>
            <a:endParaRPr lang="en-US" sz="4200" dirty="0"/>
          </a:p>
        </p:txBody>
      </p:sp>
      <p:sp>
        <p:nvSpPr>
          <p:cNvPr id="6" name="Text 3"/>
          <p:cNvSpPr/>
          <p:nvPr/>
        </p:nvSpPr>
        <p:spPr>
          <a:xfrm>
            <a:off x="812765" y="3516351"/>
            <a:ext cx="5886437" cy="594295"/>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2DE"/>
                </a:solidFill>
                <a:latin typeface="IBM Plex Sans" pitchFamily="34" charset="0"/>
                <a:ea typeface="IBM Plex Sans" pitchFamily="34" charset="-122"/>
                <a:cs typeface="IBM Plex Sans" pitchFamily="34" charset="-120"/>
              </a:rPr>
              <a:t>Open blocks for sensing with a 5G LEO downlink, from simulation to real radios</a:t>
            </a:r>
            <a:endParaRPr lang="en-US" sz="1600" dirty="0"/>
          </a:p>
        </p:txBody>
      </p:sp>
      <p:sp>
        <p:nvSpPr>
          <p:cNvPr id="7" name="Text 4"/>
          <p:cNvSpPr/>
          <p:nvPr/>
        </p:nvSpPr>
        <p:spPr>
          <a:xfrm>
            <a:off x="812765" y="4288403"/>
            <a:ext cx="5886437"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F1EC"/>
                </a:solidFill>
                <a:latin typeface="IBM Plex Sans" pitchFamily="34" charset="0"/>
                <a:ea typeface="IBM Plex Sans" pitchFamily="34" charset="-122"/>
                <a:cs typeface="IBM Plex Sans" pitchFamily="34" charset="-120"/>
              </a:rPr>
              <a:t>Soham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65"/>
            <a:ext cx="10883436"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WHY NTN ISAC</a:t>
            </a:r>
            <a:endParaRPr lang="en-US" sz="1200" dirty="0"/>
          </a:p>
        </p:txBody>
      </p:sp>
      <p:sp>
        <p:nvSpPr>
          <p:cNvPr id="3" name="Text 1"/>
          <p:cNvSpPr/>
          <p:nvPr/>
        </p:nvSpPr>
        <p:spPr>
          <a:xfrm>
            <a:off x="812765" y="1071807"/>
            <a:ext cx="10883436" cy="416543"/>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72030"/>
                </a:solidFill>
                <a:latin typeface="IBM Plex Sans" pitchFamily="34" charset="0"/>
                <a:ea typeface="IBM Plex Sans" pitchFamily="34" charset="-122"/>
                <a:cs typeface="IBM Plex Sans" pitchFamily="34" charset="-120"/>
              </a:rPr>
              <a:t>ISAC is back, and satellites can take it where base stations can't</a:t>
            </a:r>
            <a:endParaRPr lang="en-US" sz="2800" dirty="0"/>
          </a:p>
        </p:txBody>
      </p:sp>
      <p:sp>
        <p:nvSpPr>
          <p:cNvPr id="4" name="Shape 2"/>
          <p:cNvSpPr/>
          <p:nvPr/>
        </p:nvSpPr>
        <p:spPr>
          <a:xfrm>
            <a:off x="815940" y="1694688"/>
            <a:ext cx="3037839" cy="1934151"/>
          </a:xfrm>
          <a:prstGeom prst="roundRect">
            <a:avLst>
              <a:gd name="adj" fmla="val 4432"/>
            </a:avLst>
          </a:prstGeom>
          <a:solidFill>
            <a:srgbClr val="FFFFFF"/>
          </a:solidFill>
          <a:ln w="6350">
            <a:solidFill>
              <a:srgbClr val="E2E0D9"/>
            </a:solidFill>
            <a:prstDash val="solid"/>
          </a:ln>
        </p:spPr>
        <p:txBody>
          <a:bodyPr/>
          <a:lstStyle/>
          <a:p>
            <a:endParaRPr lang="en-US"/>
          </a:p>
        </p:txBody>
      </p:sp>
      <p:sp>
        <p:nvSpPr>
          <p:cNvPr id="5" name="Text 3"/>
          <p:cNvSpPr/>
          <p:nvPr/>
        </p:nvSpPr>
        <p:spPr>
          <a:xfrm>
            <a:off x="996358" y="1849700"/>
            <a:ext cx="2757313"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ISAC</a:t>
            </a:r>
            <a:endParaRPr lang="en-US" sz="1200" dirty="0"/>
          </a:p>
        </p:txBody>
      </p:sp>
      <p:sp>
        <p:nvSpPr>
          <p:cNvPr id="6" name="Text 4"/>
          <p:cNvSpPr/>
          <p:nvPr/>
        </p:nvSpPr>
        <p:spPr>
          <a:xfrm>
            <a:off x="996358" y="2083336"/>
            <a:ext cx="2757313"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One signal, two jobs</a:t>
            </a:r>
            <a:endParaRPr lang="en-US" sz="1400" dirty="0"/>
          </a:p>
        </p:txBody>
      </p:sp>
      <p:sp>
        <p:nvSpPr>
          <p:cNvPr id="7" name="Text 5"/>
          <p:cNvSpPr/>
          <p:nvPr/>
        </p:nvSpPr>
        <p:spPr>
          <a:xfrm>
            <a:off x="996358" y="2356326"/>
            <a:ext cx="2757313" cy="6654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Communication and sensing share one waveform and one hardware chain, with no new spectrum.</a:t>
            </a:r>
            <a:endParaRPr lang="en-US" sz="1200" dirty="0"/>
          </a:p>
        </p:txBody>
      </p:sp>
      <p:sp>
        <p:nvSpPr>
          <p:cNvPr id="8" name="Text 6"/>
          <p:cNvSpPr/>
          <p:nvPr/>
        </p:nvSpPr>
        <p:spPr>
          <a:xfrm>
            <a:off x="996358" y="3047133"/>
            <a:ext cx="2757313" cy="45209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030"/>
                </a:solidFill>
                <a:latin typeface="IBM Plex Sans" pitchFamily="34" charset="0"/>
                <a:ea typeface="IBM Plex Sans" pitchFamily="34" charset="-122"/>
                <a:cs typeface="IBM Plex Sans" pitchFamily="34" charset="-120"/>
              </a:rPr>
              <a:t>IoT · drone detection · vehicular · remote sensing</a:t>
            </a:r>
            <a:endParaRPr lang="en-US" sz="1200" dirty="0"/>
          </a:p>
        </p:txBody>
      </p:sp>
      <p:pic>
        <p:nvPicPr>
          <p:cNvPr id="9" name="Image 0" descr="arrow-right"/>
          <p:cNvPicPr>
            <a:picLocks noChangeAspect="1"/>
          </p:cNvPicPr>
          <p:nvPr/>
        </p:nvPicPr>
        <p:blipFill>
          <a:blip r:embed="rId3"/>
          <a:srcRect l="-5" r="-5"/>
          <a:stretch/>
        </p:blipFill>
        <p:spPr>
          <a:xfrm>
            <a:off x="3983939" y="1691513"/>
            <a:ext cx="457172" cy="228563"/>
          </a:xfrm>
          <a:prstGeom prst="rect">
            <a:avLst/>
          </a:prstGeom>
        </p:spPr>
      </p:pic>
      <p:sp>
        <p:nvSpPr>
          <p:cNvPr id="10" name="Shape 7"/>
          <p:cNvSpPr/>
          <p:nvPr/>
        </p:nvSpPr>
        <p:spPr>
          <a:xfrm>
            <a:off x="4571270" y="1694688"/>
            <a:ext cx="3037839" cy="1934151"/>
          </a:xfrm>
          <a:prstGeom prst="roundRect">
            <a:avLst>
              <a:gd name="adj" fmla="val 4432"/>
            </a:avLst>
          </a:prstGeom>
          <a:solidFill>
            <a:srgbClr val="FFFFFF"/>
          </a:solidFill>
          <a:ln w="6350">
            <a:solidFill>
              <a:srgbClr val="E2E0D9"/>
            </a:solidFill>
            <a:prstDash val="solid"/>
          </a:ln>
        </p:spPr>
        <p:txBody>
          <a:bodyPr/>
          <a:lstStyle/>
          <a:p>
            <a:endParaRPr lang="en-US"/>
          </a:p>
        </p:txBody>
      </p:sp>
      <p:sp>
        <p:nvSpPr>
          <p:cNvPr id="11" name="Text 8"/>
          <p:cNvSpPr/>
          <p:nvPr/>
        </p:nvSpPr>
        <p:spPr>
          <a:xfrm>
            <a:off x="4751688" y="1849700"/>
            <a:ext cx="2757313"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TERRESTRIAL ISAC</a:t>
            </a:r>
            <a:endParaRPr lang="en-US" sz="1200" dirty="0"/>
          </a:p>
        </p:txBody>
      </p:sp>
      <p:sp>
        <p:nvSpPr>
          <p:cNvPr id="12" name="Text 9"/>
          <p:cNvSpPr/>
          <p:nvPr/>
        </p:nvSpPr>
        <p:spPr>
          <a:xfrm>
            <a:off x="4751688" y="2083336"/>
            <a:ext cx="2757313"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Needs dense base stations</a:t>
            </a:r>
            <a:endParaRPr lang="en-US" sz="1400" dirty="0"/>
          </a:p>
        </p:txBody>
      </p:sp>
      <p:sp>
        <p:nvSpPr>
          <p:cNvPr id="13" name="Text 10"/>
          <p:cNvSpPr/>
          <p:nvPr/>
        </p:nvSpPr>
        <p:spPr>
          <a:xfrm>
            <a:off x="4751688" y="2356326"/>
            <a:ext cx="2757313" cy="87878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Base-station ISAC for drone detection and tracking is being demonstrated, but it relies on a dense network of sites. Remote areas rarely have one.</a:t>
            </a:r>
            <a:endParaRPr lang="en-US" sz="1200" dirty="0"/>
          </a:p>
        </p:txBody>
      </p:sp>
      <p:pic>
        <p:nvPicPr>
          <p:cNvPr id="14" name="Image 1" descr="arrow-right"/>
          <p:cNvPicPr>
            <a:picLocks noChangeAspect="1"/>
          </p:cNvPicPr>
          <p:nvPr/>
        </p:nvPicPr>
        <p:blipFill>
          <a:blip r:embed="rId3"/>
          <a:srcRect l="-5" r="-5"/>
          <a:stretch/>
        </p:blipFill>
        <p:spPr>
          <a:xfrm>
            <a:off x="7739269" y="1691513"/>
            <a:ext cx="457172" cy="228563"/>
          </a:xfrm>
          <a:prstGeom prst="rect">
            <a:avLst/>
          </a:prstGeom>
        </p:spPr>
      </p:pic>
      <p:sp>
        <p:nvSpPr>
          <p:cNvPr id="15" name="Shape 11"/>
          <p:cNvSpPr/>
          <p:nvPr/>
        </p:nvSpPr>
        <p:spPr>
          <a:xfrm>
            <a:off x="8329775" y="1697863"/>
            <a:ext cx="3043082" cy="1927801"/>
          </a:xfrm>
          <a:prstGeom prst="roundRect">
            <a:avLst>
              <a:gd name="adj" fmla="val 4282"/>
            </a:avLst>
          </a:prstGeom>
          <a:solidFill>
            <a:srgbClr val="FFFFFF"/>
          </a:solidFill>
          <a:ln w="12700">
            <a:solidFill>
              <a:srgbClr val="B34E1B"/>
            </a:solidFill>
            <a:prstDash val="solid"/>
          </a:ln>
        </p:spPr>
        <p:txBody>
          <a:bodyPr/>
          <a:lstStyle/>
          <a:p>
            <a:endParaRPr lang="en-US"/>
          </a:p>
        </p:txBody>
      </p:sp>
      <p:sp>
        <p:nvSpPr>
          <p:cNvPr id="16" name="Text 12"/>
          <p:cNvSpPr/>
          <p:nvPr/>
        </p:nvSpPr>
        <p:spPr>
          <a:xfrm>
            <a:off x="8512815" y="1855497"/>
            <a:ext cx="2757313"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NTN ISAC</a:t>
            </a:r>
            <a:endParaRPr lang="en-US" sz="1200" dirty="0"/>
          </a:p>
        </p:txBody>
      </p:sp>
      <p:sp>
        <p:nvSpPr>
          <p:cNvPr id="17" name="Text 13"/>
          <p:cNvSpPr/>
          <p:nvPr/>
        </p:nvSpPr>
        <p:spPr>
          <a:xfrm>
            <a:off x="8512815" y="2089133"/>
            <a:ext cx="2757313"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Coverage from orbit</a:t>
            </a:r>
            <a:endParaRPr lang="en-US" sz="1400" dirty="0"/>
          </a:p>
        </p:txBody>
      </p:sp>
      <p:sp>
        <p:nvSpPr>
          <p:cNvPr id="18" name="Text 14"/>
          <p:cNvSpPr/>
          <p:nvPr/>
        </p:nvSpPr>
        <p:spPr>
          <a:xfrm>
            <a:off x="8512815" y="2362122"/>
            <a:ext cx="2757313" cy="87878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Non-terrestrial networks extend 5G where infrastructure cannot reach. ISAC and NTN together are widely seen as a key enabler for 6G.</a:t>
            </a:r>
            <a:endParaRPr lang="en-US" sz="1200" dirty="0"/>
          </a:p>
        </p:txBody>
      </p:sp>
      <p:sp>
        <p:nvSpPr>
          <p:cNvPr id="19" name="Text 15"/>
          <p:cNvSpPr/>
          <p:nvPr/>
        </p:nvSpPr>
        <p:spPr>
          <a:xfrm>
            <a:off x="812765" y="3860577"/>
            <a:ext cx="10883436" cy="30984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2030"/>
                </a:solidFill>
                <a:latin typeface="IBM Plex Sans" pitchFamily="34" charset="0"/>
                <a:ea typeface="IBM Plex Sans" pitchFamily="34" charset="-122"/>
                <a:cs typeface="IBM Plex Sans" pitchFamily="34" charset="-120"/>
              </a:rPr>
              <a:t>The promise: sensing over remote land and oceans.</a:t>
            </a:r>
            <a:endParaRPr lang="en-US" sz="1600" dirty="0"/>
          </a:p>
        </p:txBody>
      </p:sp>
      <p:sp>
        <p:nvSpPr>
          <p:cNvPr id="20" name="Text 16"/>
          <p:cNvSpPr/>
          <p:nvPr/>
        </p:nvSpPr>
        <p:spPr>
          <a:xfrm>
            <a:off x="812765" y="6238278"/>
            <a:ext cx="7848582"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NTN ISAC in GNU Radio · GRCon 2026</a:t>
            </a:r>
            <a:endParaRPr lang="en-US" sz="1200" dirty="0"/>
          </a:p>
        </p:txBody>
      </p:sp>
      <p:sp>
        <p:nvSpPr>
          <p:cNvPr id="21" name="Text 17"/>
          <p:cNvSpPr/>
          <p:nvPr/>
        </p:nvSpPr>
        <p:spPr>
          <a:xfrm>
            <a:off x="10058426" y="6238278"/>
            <a:ext cx="1320782"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34" charset="0"/>
                <a:ea typeface="JetBrains Mono" pitchFamily="34" charset="-122"/>
                <a:cs typeface="JetBrains Mono"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66"/>
            <a:ext cx="10883436"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OPEN QUESTIONS</a:t>
            </a:r>
            <a:endParaRPr lang="en-US" sz="1200" dirty="0"/>
          </a:p>
        </p:txBody>
      </p:sp>
      <p:sp>
        <p:nvSpPr>
          <p:cNvPr id="3" name="Text 1"/>
          <p:cNvSpPr/>
          <p:nvPr/>
        </p:nvSpPr>
        <p:spPr>
          <a:xfrm>
            <a:off x="812765" y="1071806"/>
            <a:ext cx="10883436" cy="416543"/>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72030"/>
                </a:solidFill>
                <a:latin typeface="IBM Plex Sans" pitchFamily="34" charset="0"/>
                <a:ea typeface="IBM Plex Sans" pitchFamily="34" charset="-122"/>
                <a:cs typeface="IBM Plex Sans" pitchFamily="34" charset="-120"/>
              </a:rPr>
              <a:t>Open problems, and what I built to test them</a:t>
            </a:r>
            <a:endParaRPr lang="en-US" sz="2800" dirty="0"/>
          </a:p>
        </p:txBody>
      </p:sp>
      <p:sp>
        <p:nvSpPr>
          <p:cNvPr id="4" name="Text 2"/>
          <p:cNvSpPr/>
          <p:nvPr/>
        </p:nvSpPr>
        <p:spPr>
          <a:xfrm>
            <a:off x="812765" y="1691514"/>
            <a:ext cx="5389382"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THE LITERATURE FLAGS</a:t>
            </a:r>
            <a:endParaRPr lang="en-US" sz="1200" dirty="0"/>
          </a:p>
        </p:txBody>
      </p:sp>
      <p:sp>
        <p:nvSpPr>
          <p:cNvPr id="5" name="Text 3"/>
          <p:cNvSpPr/>
          <p:nvPr/>
        </p:nvSpPr>
        <p:spPr>
          <a:xfrm>
            <a:off x="6146753" y="1691514"/>
            <a:ext cx="5389428"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WHAT THIS WORK DOES</a:t>
            </a:r>
            <a:endParaRPr lang="en-US" sz="1200" dirty="0"/>
          </a:p>
        </p:txBody>
      </p:sp>
      <p:sp>
        <p:nvSpPr>
          <p:cNvPr id="6" name="Shape 4"/>
          <p:cNvSpPr/>
          <p:nvPr/>
        </p:nvSpPr>
        <p:spPr>
          <a:xfrm>
            <a:off x="812765" y="1975960"/>
            <a:ext cx="5232409" cy="692256"/>
          </a:xfrm>
          <a:prstGeom prst="roundRect">
            <a:avLst>
              <a:gd name="adj" fmla="val 12842"/>
            </a:avLst>
          </a:prstGeom>
          <a:solidFill>
            <a:srgbClr val="F0EEE8"/>
          </a:solidFill>
          <a:ln/>
        </p:spPr>
        <p:txBody>
          <a:bodyPr/>
          <a:lstStyle/>
          <a:p>
            <a:endParaRPr lang="en-US"/>
          </a:p>
        </p:txBody>
      </p:sp>
      <p:sp>
        <p:nvSpPr>
          <p:cNvPr id="7" name="Text 5"/>
          <p:cNvSpPr/>
          <p:nvPr/>
        </p:nvSpPr>
        <p:spPr>
          <a:xfrm>
            <a:off x="965156" y="2102945"/>
            <a:ext cx="5075457" cy="23874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030"/>
                </a:solidFill>
                <a:latin typeface="IBM Plex Sans" pitchFamily="34" charset="0"/>
                <a:ea typeface="IBM Plex Sans" pitchFamily="34" charset="-122"/>
                <a:cs typeface="IBM Plex Sans" pitchFamily="34" charset="-120"/>
              </a:rPr>
              <a:t>Fast LEO motion:</a:t>
            </a:r>
            <a:r>
              <a:rPr lang="en-US" sz="1200" dirty="0">
                <a:solidFill>
                  <a:srgbClr val="172030"/>
                </a:solidFill>
                <a:latin typeface="IBM Plex Sans" pitchFamily="34" charset="0"/>
                <a:ea typeface="IBM Plex Sans" pitchFamily="34" charset="-122"/>
                <a:cs typeface="IBM Plex Sans" pitchFamily="34" charset="-120"/>
              </a:rPr>
              <a:t> delay and Doppler change quickly</a:t>
            </a:r>
            <a:endParaRPr lang="en-US" sz="1200" dirty="0"/>
          </a:p>
        </p:txBody>
      </p:sp>
      <p:sp>
        <p:nvSpPr>
          <p:cNvPr id="8" name="Shape 6"/>
          <p:cNvSpPr/>
          <p:nvPr/>
        </p:nvSpPr>
        <p:spPr>
          <a:xfrm>
            <a:off x="6149928" y="1979135"/>
            <a:ext cx="5226105" cy="685906"/>
          </a:xfrm>
          <a:prstGeom prst="roundRect">
            <a:avLst>
              <a:gd name="adj" fmla="val 12498"/>
            </a:avLst>
          </a:prstGeom>
          <a:solidFill>
            <a:srgbClr val="FFFFFF"/>
          </a:solidFill>
          <a:ln w="6350">
            <a:solidFill>
              <a:srgbClr val="E2E0D9"/>
            </a:solidFill>
            <a:prstDash val="solid"/>
          </a:ln>
        </p:spPr>
        <p:txBody>
          <a:bodyPr/>
          <a:lstStyle/>
          <a:p>
            <a:endParaRPr lang="en-US"/>
          </a:p>
        </p:txBody>
      </p:sp>
      <p:sp>
        <p:nvSpPr>
          <p:cNvPr id="9" name="Text 7"/>
          <p:cNvSpPr/>
          <p:nvPr/>
        </p:nvSpPr>
        <p:spPr>
          <a:xfrm>
            <a:off x="6304940" y="2108743"/>
            <a:ext cx="5063563"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030"/>
                </a:solidFill>
                <a:latin typeface="IBM Plex Sans" pitchFamily="34" charset="0"/>
                <a:ea typeface="IBM Plex Sans" pitchFamily="34" charset="-122"/>
                <a:cs typeface="IBM Plex Sans" pitchFamily="34" charset="-120"/>
              </a:rPr>
              <a:t>A </a:t>
            </a:r>
            <a:r>
              <a:rPr lang="en-US" sz="1200" b="1" dirty="0">
                <a:solidFill>
                  <a:srgbClr val="172030"/>
                </a:solidFill>
                <a:latin typeface="IBM Plex Sans" pitchFamily="34" charset="0"/>
                <a:ea typeface="IBM Plex Sans" pitchFamily="34" charset="-122"/>
                <a:cs typeface="IBM Plex Sans" pitchFamily="34" charset="-120"/>
              </a:rPr>
              <a:t>LEO channel block</a:t>
            </a:r>
            <a:r>
              <a:rPr lang="en-US" sz="1200" dirty="0">
                <a:solidFill>
                  <a:srgbClr val="172030"/>
                </a:solidFill>
                <a:latin typeface="IBM Plex Sans" pitchFamily="34" charset="0"/>
                <a:ea typeface="IBM Plex Sans" pitchFamily="34" charset="-122"/>
                <a:cs typeface="IBM Plex Sans" pitchFamily="34" charset="-120"/>
              </a:rPr>
              <a:t> that emulates the pass, with moving and stationary objects and clutter</a:t>
            </a:r>
            <a:endParaRPr lang="en-US" sz="1200" dirty="0"/>
          </a:p>
        </p:txBody>
      </p:sp>
      <p:sp>
        <p:nvSpPr>
          <p:cNvPr id="10" name="Shape 8"/>
          <p:cNvSpPr/>
          <p:nvPr/>
        </p:nvSpPr>
        <p:spPr>
          <a:xfrm>
            <a:off x="812765" y="2769795"/>
            <a:ext cx="5232409" cy="692256"/>
          </a:xfrm>
          <a:prstGeom prst="roundRect">
            <a:avLst>
              <a:gd name="adj" fmla="val 12842"/>
            </a:avLst>
          </a:prstGeom>
          <a:solidFill>
            <a:srgbClr val="F0EEE8"/>
          </a:solidFill>
          <a:ln/>
        </p:spPr>
        <p:txBody>
          <a:bodyPr/>
          <a:lstStyle/>
          <a:p>
            <a:endParaRPr lang="en-US"/>
          </a:p>
        </p:txBody>
      </p:sp>
      <p:sp>
        <p:nvSpPr>
          <p:cNvPr id="11" name="Text 9"/>
          <p:cNvSpPr/>
          <p:nvPr/>
        </p:nvSpPr>
        <p:spPr>
          <a:xfrm>
            <a:off x="965156" y="2896780"/>
            <a:ext cx="5075457" cy="23874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030"/>
                </a:solidFill>
                <a:latin typeface="IBM Plex Sans" pitchFamily="34" charset="0"/>
                <a:ea typeface="IBM Plex Sans" pitchFamily="34" charset="-122"/>
                <a:cs typeface="IBM Plex Sans" pitchFamily="34" charset="-120"/>
              </a:rPr>
              <a:t>No channel models</a:t>
            </a:r>
            <a:r>
              <a:rPr lang="en-US" sz="1200" dirty="0">
                <a:solidFill>
                  <a:srgbClr val="172030"/>
                </a:solidFill>
                <a:latin typeface="IBM Plex Sans" pitchFamily="34" charset="0"/>
                <a:ea typeface="IBM Plex Sans" pitchFamily="34" charset="-122"/>
                <a:cs typeface="IBM Plex Sans" pitchFamily="34" charset="-120"/>
              </a:rPr>
              <a:t> for joint NTN comms and sensing</a:t>
            </a:r>
            <a:endParaRPr lang="en-US" sz="1200" dirty="0"/>
          </a:p>
        </p:txBody>
      </p:sp>
      <p:sp>
        <p:nvSpPr>
          <p:cNvPr id="12" name="Shape 10"/>
          <p:cNvSpPr/>
          <p:nvPr/>
        </p:nvSpPr>
        <p:spPr>
          <a:xfrm>
            <a:off x="6149928" y="2772970"/>
            <a:ext cx="5226105" cy="685906"/>
          </a:xfrm>
          <a:prstGeom prst="roundRect">
            <a:avLst>
              <a:gd name="adj" fmla="val 12498"/>
            </a:avLst>
          </a:prstGeom>
          <a:solidFill>
            <a:srgbClr val="FFFFFF"/>
          </a:solidFill>
          <a:ln w="6350">
            <a:solidFill>
              <a:srgbClr val="E2E0D9"/>
            </a:solidFill>
            <a:prstDash val="solid"/>
          </a:ln>
        </p:spPr>
        <p:txBody>
          <a:bodyPr/>
          <a:lstStyle/>
          <a:p>
            <a:endParaRPr lang="en-US"/>
          </a:p>
        </p:txBody>
      </p:sp>
      <p:sp>
        <p:nvSpPr>
          <p:cNvPr id="13" name="Text 11"/>
          <p:cNvSpPr/>
          <p:nvPr/>
        </p:nvSpPr>
        <p:spPr>
          <a:xfrm>
            <a:off x="6304940" y="2902576"/>
            <a:ext cx="5063563" cy="45209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030"/>
                </a:solidFill>
                <a:latin typeface="IBM Plex Sans" pitchFamily="34" charset="0"/>
                <a:ea typeface="IBM Plex Sans" pitchFamily="34" charset="-122"/>
                <a:cs typeface="IBM Plex Sans" pitchFamily="34" charset="-120"/>
              </a:rPr>
              <a:t>Scenes in YAML:</a:t>
            </a:r>
            <a:r>
              <a:rPr lang="en-US" sz="1200" dirty="0">
                <a:solidFill>
                  <a:srgbClr val="172030"/>
                </a:solidFill>
                <a:latin typeface="IBM Plex Sans" pitchFamily="34" charset="0"/>
                <a:ea typeface="IBM Plex Sans" pitchFamily="34" charset="-122"/>
                <a:cs typeface="IBM Plex Sans" pitchFamily="34" charset="-120"/>
              </a:rPr>
              <a:t> define targets and clutter, then see how their echoes reach the receiver</a:t>
            </a:r>
            <a:endParaRPr lang="en-US" sz="1200" dirty="0"/>
          </a:p>
        </p:txBody>
      </p:sp>
      <p:sp>
        <p:nvSpPr>
          <p:cNvPr id="14" name="Shape 12"/>
          <p:cNvSpPr/>
          <p:nvPr/>
        </p:nvSpPr>
        <p:spPr>
          <a:xfrm>
            <a:off x="812765" y="3563631"/>
            <a:ext cx="5232409" cy="692256"/>
          </a:xfrm>
          <a:prstGeom prst="roundRect">
            <a:avLst>
              <a:gd name="adj" fmla="val 12842"/>
            </a:avLst>
          </a:prstGeom>
          <a:solidFill>
            <a:srgbClr val="F0EEE8"/>
          </a:solidFill>
          <a:ln/>
        </p:spPr>
        <p:txBody>
          <a:bodyPr/>
          <a:lstStyle/>
          <a:p>
            <a:endParaRPr lang="en-US"/>
          </a:p>
        </p:txBody>
      </p:sp>
      <p:sp>
        <p:nvSpPr>
          <p:cNvPr id="15" name="Text 13"/>
          <p:cNvSpPr/>
          <p:nvPr/>
        </p:nvSpPr>
        <p:spPr>
          <a:xfrm>
            <a:off x="965156" y="3690615"/>
            <a:ext cx="5075457" cy="23874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030"/>
                </a:solidFill>
                <a:latin typeface="IBM Plex Sans" pitchFamily="34" charset="0"/>
                <a:ea typeface="IBM Plex Sans" pitchFamily="34" charset="-122"/>
                <a:cs typeface="IBM Plex Sans" pitchFamily="34" charset="-120"/>
              </a:rPr>
              <a:t>Unmodified OFDM waveform:</a:t>
            </a:r>
            <a:r>
              <a:rPr lang="en-US" sz="1200" dirty="0">
                <a:solidFill>
                  <a:srgbClr val="172030"/>
                </a:solidFill>
                <a:latin typeface="IBM Plex Sans" pitchFamily="34" charset="0"/>
                <a:ea typeface="IBM Plex Sans" pitchFamily="34" charset="-122"/>
                <a:cs typeface="IBM Plex Sans" pitchFamily="34" charset="-120"/>
              </a:rPr>
              <a:t> the pilots are sparse</a:t>
            </a:r>
            <a:endParaRPr lang="en-US" sz="1200" dirty="0"/>
          </a:p>
        </p:txBody>
      </p:sp>
      <p:sp>
        <p:nvSpPr>
          <p:cNvPr id="16" name="Shape 14"/>
          <p:cNvSpPr/>
          <p:nvPr/>
        </p:nvSpPr>
        <p:spPr>
          <a:xfrm>
            <a:off x="6149928" y="3566806"/>
            <a:ext cx="5226105" cy="685906"/>
          </a:xfrm>
          <a:prstGeom prst="roundRect">
            <a:avLst>
              <a:gd name="adj" fmla="val 12498"/>
            </a:avLst>
          </a:prstGeom>
          <a:solidFill>
            <a:srgbClr val="FFFFFF"/>
          </a:solidFill>
          <a:ln w="6350">
            <a:solidFill>
              <a:srgbClr val="E2E0D9"/>
            </a:solidFill>
            <a:prstDash val="solid"/>
          </a:ln>
        </p:spPr>
        <p:txBody>
          <a:bodyPr/>
          <a:lstStyle/>
          <a:p>
            <a:endParaRPr lang="en-US"/>
          </a:p>
        </p:txBody>
      </p:sp>
      <p:sp>
        <p:nvSpPr>
          <p:cNvPr id="17" name="Text 15"/>
          <p:cNvSpPr/>
          <p:nvPr/>
        </p:nvSpPr>
        <p:spPr>
          <a:xfrm>
            <a:off x="6304940" y="3696412"/>
            <a:ext cx="5063563" cy="45209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030"/>
                </a:solidFill>
                <a:latin typeface="IBM Plex Sans" pitchFamily="34" charset="0"/>
                <a:ea typeface="IBM Plex Sans" pitchFamily="34" charset="-122"/>
                <a:cs typeface="IBM Plex Sans" pitchFamily="34" charset="-120"/>
              </a:rPr>
              <a:t>Payload-assisted sensing:</a:t>
            </a:r>
            <a:r>
              <a:rPr lang="en-US" sz="1200" dirty="0">
                <a:solidFill>
                  <a:srgbClr val="172030"/>
                </a:solidFill>
                <a:latin typeface="IBM Plex Sans" pitchFamily="34" charset="0"/>
                <a:ea typeface="IBM Plex Sans" pitchFamily="34" charset="-122"/>
                <a:cs typeface="IBM Plex Sans" pitchFamily="34" charset="-120"/>
              </a:rPr>
              <a:t> reuse the data the receiver already demodulates</a:t>
            </a:r>
            <a:endParaRPr lang="en-US" sz="1200" dirty="0"/>
          </a:p>
        </p:txBody>
      </p:sp>
      <p:sp>
        <p:nvSpPr>
          <p:cNvPr id="18" name="Shape 16"/>
          <p:cNvSpPr/>
          <p:nvPr/>
        </p:nvSpPr>
        <p:spPr>
          <a:xfrm>
            <a:off x="812765" y="4357466"/>
            <a:ext cx="5232409" cy="692256"/>
          </a:xfrm>
          <a:prstGeom prst="roundRect">
            <a:avLst>
              <a:gd name="adj" fmla="val 12842"/>
            </a:avLst>
          </a:prstGeom>
          <a:solidFill>
            <a:srgbClr val="F0EEE8"/>
          </a:solidFill>
          <a:ln/>
        </p:spPr>
        <p:txBody>
          <a:bodyPr/>
          <a:lstStyle/>
          <a:p>
            <a:endParaRPr lang="en-US"/>
          </a:p>
        </p:txBody>
      </p:sp>
      <p:sp>
        <p:nvSpPr>
          <p:cNvPr id="19" name="Text 17"/>
          <p:cNvSpPr/>
          <p:nvPr/>
        </p:nvSpPr>
        <p:spPr>
          <a:xfrm>
            <a:off x="965156" y="4484450"/>
            <a:ext cx="5075457" cy="23874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030"/>
                </a:solidFill>
                <a:latin typeface="IBM Plex Sans" pitchFamily="34" charset="0"/>
                <a:ea typeface="IBM Plex Sans" pitchFamily="34" charset="-122"/>
                <a:cs typeface="IBM Plex Sans" pitchFamily="34" charset="-120"/>
              </a:rPr>
              <a:t>Tight clock sync</a:t>
            </a:r>
            <a:r>
              <a:rPr lang="en-US" sz="1200" dirty="0">
                <a:solidFill>
                  <a:srgbClr val="172030"/>
                </a:solidFill>
                <a:latin typeface="IBM Plex Sans" pitchFamily="34" charset="0"/>
                <a:ea typeface="IBM Plex Sans" pitchFamily="34" charset="-122"/>
                <a:cs typeface="IBM Plex Sans" pitchFamily="34" charset="-120"/>
              </a:rPr>
              <a:t> across the bistatic nodes</a:t>
            </a:r>
            <a:endParaRPr lang="en-US" sz="1200" dirty="0"/>
          </a:p>
        </p:txBody>
      </p:sp>
      <p:sp>
        <p:nvSpPr>
          <p:cNvPr id="20" name="Shape 18"/>
          <p:cNvSpPr/>
          <p:nvPr/>
        </p:nvSpPr>
        <p:spPr>
          <a:xfrm>
            <a:off x="6149928" y="4360641"/>
            <a:ext cx="5226105" cy="685906"/>
          </a:xfrm>
          <a:prstGeom prst="roundRect">
            <a:avLst>
              <a:gd name="adj" fmla="val 12498"/>
            </a:avLst>
          </a:prstGeom>
          <a:solidFill>
            <a:srgbClr val="FFFFFF"/>
          </a:solidFill>
          <a:ln w="6350">
            <a:solidFill>
              <a:srgbClr val="E2E0D9"/>
            </a:solidFill>
            <a:prstDash val="solid"/>
          </a:ln>
        </p:spPr>
        <p:txBody>
          <a:bodyPr/>
          <a:lstStyle/>
          <a:p>
            <a:endParaRPr lang="en-US"/>
          </a:p>
        </p:txBody>
      </p:sp>
      <p:sp>
        <p:nvSpPr>
          <p:cNvPr id="21" name="Text 19"/>
          <p:cNvSpPr/>
          <p:nvPr/>
        </p:nvSpPr>
        <p:spPr>
          <a:xfrm>
            <a:off x="6304940" y="4490247"/>
            <a:ext cx="5063563" cy="45209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2030"/>
                </a:solidFill>
                <a:latin typeface="IBM Plex Sans" pitchFamily="34" charset="0"/>
                <a:ea typeface="IBM Plex Sans" pitchFamily="34" charset="-122"/>
                <a:cs typeface="IBM Plex Sans" pitchFamily="34" charset="-120"/>
              </a:rPr>
              <a:t>Tests on Real hardware:</a:t>
            </a:r>
            <a:r>
              <a:rPr lang="en-US" sz="1200" dirty="0">
                <a:solidFill>
                  <a:srgbClr val="172030"/>
                </a:solidFill>
                <a:latin typeface="IBM Plex Sans" pitchFamily="34" charset="0"/>
                <a:ea typeface="IBM Plex Sans" pitchFamily="34" charset="-122"/>
                <a:cs typeface="IBM Plex Sans" pitchFamily="34" charset="-120"/>
              </a:rPr>
              <a:t> Two RF chains, Two LO, Two independently disciplined SDRs via GPSDOs</a:t>
            </a:r>
            <a:endParaRPr lang="en-US" sz="1200" dirty="0"/>
          </a:p>
        </p:txBody>
      </p:sp>
      <p:sp>
        <p:nvSpPr>
          <p:cNvPr id="22" name="Text 20"/>
          <p:cNvSpPr/>
          <p:nvPr/>
        </p:nvSpPr>
        <p:spPr>
          <a:xfrm>
            <a:off x="812765" y="5278286"/>
            <a:ext cx="10883436" cy="27429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030"/>
                </a:solidFill>
                <a:latin typeface="IBM Plex Sans" pitchFamily="34" charset="0"/>
                <a:ea typeface="IBM Plex Sans" pitchFamily="34" charset="-122"/>
                <a:cs typeface="IBM Plex Sans" pitchFamily="34" charset="-120"/>
              </a:rPr>
              <a:t>This work highlights a receiver's view from the ground, using a signal of opportunity: a 5G NR downlink meant for something else.</a:t>
            </a:r>
            <a:endParaRPr lang="en-US" sz="1400" dirty="0"/>
          </a:p>
        </p:txBody>
      </p:sp>
      <p:sp>
        <p:nvSpPr>
          <p:cNvPr id="23" name="Text 21"/>
          <p:cNvSpPr/>
          <p:nvPr/>
        </p:nvSpPr>
        <p:spPr>
          <a:xfrm>
            <a:off x="812765" y="6238278"/>
            <a:ext cx="7848582"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NTN ISAC in GNU Radio · GRCon 2026</a:t>
            </a:r>
            <a:endParaRPr lang="en-US" sz="1200" dirty="0"/>
          </a:p>
        </p:txBody>
      </p:sp>
      <p:sp>
        <p:nvSpPr>
          <p:cNvPr id="24" name="Text 22"/>
          <p:cNvSpPr/>
          <p:nvPr/>
        </p:nvSpPr>
        <p:spPr>
          <a:xfrm>
            <a:off x="10058426" y="6238278"/>
            <a:ext cx="1320782"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34" charset="0"/>
                <a:ea typeface="JetBrains Mono" pitchFamily="34" charset="-122"/>
                <a:cs typeface="JetBrains Mono"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66"/>
            <a:ext cx="10883436"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THE CONTRIBUTION</a:t>
            </a:r>
            <a:endParaRPr lang="en-US" sz="1200" dirty="0"/>
          </a:p>
        </p:txBody>
      </p:sp>
      <p:sp>
        <p:nvSpPr>
          <p:cNvPr id="3" name="Text 1"/>
          <p:cNvSpPr/>
          <p:nvPr/>
        </p:nvSpPr>
        <p:spPr>
          <a:xfrm>
            <a:off x="812765" y="1071806"/>
            <a:ext cx="10883436" cy="416543"/>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72030"/>
                </a:solidFill>
                <a:latin typeface="IBM Plex Sans" pitchFamily="34" charset="0"/>
                <a:ea typeface="IBM Plex Sans" pitchFamily="34" charset="-122"/>
                <a:cs typeface="IBM Plex Sans" pitchFamily="34" charset="-120"/>
              </a:rPr>
              <a:t>gr-ntnisac: open GNU Radio blocks for 5G NTN ISAC</a:t>
            </a:r>
            <a:endParaRPr lang="en-US" sz="2800" dirty="0"/>
          </a:p>
        </p:txBody>
      </p:sp>
      <p:sp>
        <p:nvSpPr>
          <p:cNvPr id="4" name="Text 2"/>
          <p:cNvSpPr/>
          <p:nvPr/>
        </p:nvSpPr>
        <p:spPr>
          <a:xfrm>
            <a:off x="812765" y="1883394"/>
            <a:ext cx="3924291" cy="878742"/>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72030"/>
                </a:solidFill>
                <a:latin typeface="IBM Plex Sans" pitchFamily="34" charset="0"/>
                <a:ea typeface="IBM Plex Sans" pitchFamily="34" charset="-122"/>
                <a:cs typeface="IBM Plex Sans" pitchFamily="34" charset="-120"/>
              </a:rPr>
              <a:t>To our knowledge, GNU Radio had no open blocks for sensing with a 5G NTN downlink.</a:t>
            </a:r>
            <a:endParaRPr lang="en-US" sz="1600" dirty="0"/>
          </a:p>
        </p:txBody>
      </p:sp>
      <p:sp>
        <p:nvSpPr>
          <p:cNvPr id="5" name="Text 3"/>
          <p:cNvSpPr/>
          <p:nvPr/>
        </p:nvSpPr>
        <p:spPr>
          <a:xfrm>
            <a:off x="812765" y="2914532"/>
            <a:ext cx="3924291" cy="1020988"/>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264"/>
                </a:solidFill>
                <a:latin typeface="IBM Plex Sans" pitchFamily="34" charset="0"/>
                <a:ea typeface="IBM Plex Sans" pitchFamily="34" charset="-122"/>
                <a:cs typeface="IBM Plex Sans" pitchFamily="34" charset="-120"/>
              </a:rPr>
              <a:t>A public testbed anyone can run: on one laptop with no radio, or on two USRPs. Tested conducted over cable; the same blocks can run radiated.</a:t>
            </a:r>
            <a:endParaRPr lang="en-US" sz="1400" dirty="0"/>
          </a:p>
        </p:txBody>
      </p:sp>
      <p:sp>
        <p:nvSpPr>
          <p:cNvPr id="6" name="Text 4"/>
          <p:cNvSpPr/>
          <p:nvPr/>
        </p:nvSpPr>
        <p:spPr>
          <a:xfrm>
            <a:off x="812765" y="4087918"/>
            <a:ext cx="3924291" cy="52319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264"/>
                </a:solidFill>
                <a:latin typeface="IBM Plex Sans" pitchFamily="34" charset="0"/>
                <a:ea typeface="IBM Plex Sans" pitchFamily="34" charset="-122"/>
                <a:cs typeface="IBM Plex Sans" pitchFamily="34" charset="-120"/>
              </a:rPr>
              <a:t>Every result is scored against exact ground truth, so it can be checked, not just shown.</a:t>
            </a:r>
            <a:endParaRPr lang="en-US" sz="1400" dirty="0"/>
          </a:p>
        </p:txBody>
      </p:sp>
      <p:sp>
        <p:nvSpPr>
          <p:cNvPr id="7" name="Shape 5"/>
          <p:cNvSpPr/>
          <p:nvPr/>
        </p:nvSpPr>
        <p:spPr>
          <a:xfrm>
            <a:off x="4930713" y="1694689"/>
            <a:ext cx="3143267" cy="920765"/>
          </a:xfrm>
          <a:prstGeom prst="roundRect">
            <a:avLst>
              <a:gd name="adj" fmla="val 9310"/>
            </a:avLst>
          </a:prstGeom>
          <a:solidFill>
            <a:srgbClr val="FFFFFF"/>
          </a:solidFill>
          <a:ln w="6350">
            <a:solidFill>
              <a:srgbClr val="E2E0D9"/>
            </a:solidFill>
            <a:prstDash val="solid"/>
          </a:ln>
        </p:spPr>
        <p:txBody>
          <a:bodyPr/>
          <a:lstStyle/>
          <a:p>
            <a:endParaRPr lang="en-US"/>
          </a:p>
        </p:txBody>
      </p:sp>
      <p:sp>
        <p:nvSpPr>
          <p:cNvPr id="8" name="Text 6"/>
          <p:cNvSpPr/>
          <p:nvPr/>
        </p:nvSpPr>
        <p:spPr>
          <a:xfrm>
            <a:off x="5085725" y="1811568"/>
            <a:ext cx="2918240"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LEO Channel</a:t>
            </a:r>
            <a:endParaRPr lang="en-US" sz="1400" dirty="0"/>
          </a:p>
        </p:txBody>
      </p:sp>
      <p:sp>
        <p:nvSpPr>
          <p:cNvPr id="9" name="Text 7"/>
          <p:cNvSpPr/>
          <p:nvPr/>
        </p:nvSpPr>
        <p:spPr>
          <a:xfrm>
            <a:off x="5085725" y="2071878"/>
            <a:ext cx="2918240"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C++ satellite pass: a sum of delayed copies, driven by a YAML scene</a:t>
            </a:r>
            <a:endParaRPr lang="en-US" sz="1200" dirty="0"/>
          </a:p>
        </p:txBody>
      </p:sp>
      <p:sp>
        <p:nvSpPr>
          <p:cNvPr id="10" name="Shape 8"/>
          <p:cNvSpPr/>
          <p:nvPr/>
        </p:nvSpPr>
        <p:spPr>
          <a:xfrm>
            <a:off x="8232720" y="1694689"/>
            <a:ext cx="3143312" cy="920765"/>
          </a:xfrm>
          <a:prstGeom prst="roundRect">
            <a:avLst>
              <a:gd name="adj" fmla="val 9310"/>
            </a:avLst>
          </a:prstGeom>
          <a:solidFill>
            <a:srgbClr val="FFFFFF"/>
          </a:solidFill>
          <a:ln w="6350">
            <a:solidFill>
              <a:srgbClr val="E2E0D9"/>
            </a:solidFill>
            <a:prstDash val="solid"/>
          </a:ln>
        </p:spPr>
        <p:txBody>
          <a:bodyPr/>
          <a:lstStyle/>
          <a:p>
            <a:endParaRPr lang="en-US"/>
          </a:p>
        </p:txBody>
      </p:sp>
      <p:sp>
        <p:nvSpPr>
          <p:cNvPr id="11" name="Text 9"/>
          <p:cNvSpPr/>
          <p:nvPr/>
        </p:nvSpPr>
        <p:spPr>
          <a:xfrm>
            <a:off x="8387733" y="1811568"/>
            <a:ext cx="2918286"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Es/N0 Noise · LEO Truth</a:t>
            </a:r>
            <a:endParaRPr lang="en-US" sz="1400" dirty="0"/>
          </a:p>
        </p:txBody>
      </p:sp>
      <p:sp>
        <p:nvSpPr>
          <p:cNvPr id="12" name="Text 10"/>
          <p:cNvSpPr/>
          <p:nvPr/>
        </p:nvSpPr>
        <p:spPr>
          <a:xfrm>
            <a:off x="8387733" y="2071878"/>
            <a:ext cx="2918286"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controlled SNR, and commanded truth published as messages</a:t>
            </a:r>
            <a:endParaRPr lang="en-US" sz="1200" dirty="0"/>
          </a:p>
        </p:txBody>
      </p:sp>
      <p:sp>
        <p:nvSpPr>
          <p:cNvPr id="13" name="Shape 11"/>
          <p:cNvSpPr/>
          <p:nvPr/>
        </p:nvSpPr>
        <p:spPr>
          <a:xfrm>
            <a:off x="4930713" y="2774193"/>
            <a:ext cx="3143267" cy="920765"/>
          </a:xfrm>
          <a:prstGeom prst="roundRect">
            <a:avLst>
              <a:gd name="adj" fmla="val 9310"/>
            </a:avLst>
          </a:prstGeom>
          <a:solidFill>
            <a:srgbClr val="FFFFFF"/>
          </a:solidFill>
          <a:ln w="6350">
            <a:solidFill>
              <a:srgbClr val="E2E0D9"/>
            </a:solidFill>
            <a:prstDash val="solid"/>
          </a:ln>
        </p:spPr>
        <p:txBody>
          <a:bodyPr/>
          <a:lstStyle/>
          <a:p>
            <a:endParaRPr lang="en-US"/>
          </a:p>
        </p:txBody>
      </p:sp>
      <p:sp>
        <p:nvSpPr>
          <p:cNvPr id="14" name="Text 12"/>
          <p:cNvSpPr/>
          <p:nvPr/>
        </p:nvSpPr>
        <p:spPr>
          <a:xfrm>
            <a:off x="5085725" y="2891075"/>
            <a:ext cx="2918240"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SSB Coarse</a:t>
            </a:r>
            <a:endParaRPr lang="en-US" sz="1400" dirty="0"/>
          </a:p>
        </p:txBody>
      </p:sp>
      <p:sp>
        <p:nvSpPr>
          <p:cNvPr id="15" name="Text 13"/>
          <p:cNvSpPr/>
          <p:nvPr/>
        </p:nvSpPr>
        <p:spPr>
          <a:xfrm>
            <a:off x="5085725" y="3151383"/>
            <a:ext cx="2918240"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coarse sensing from the SSB, on every dwell</a:t>
            </a:r>
            <a:endParaRPr lang="en-US" sz="1200" dirty="0"/>
          </a:p>
        </p:txBody>
      </p:sp>
      <p:sp>
        <p:nvSpPr>
          <p:cNvPr id="16" name="Shape 14"/>
          <p:cNvSpPr/>
          <p:nvPr/>
        </p:nvSpPr>
        <p:spPr>
          <a:xfrm>
            <a:off x="8232720" y="2774193"/>
            <a:ext cx="3143312" cy="920765"/>
          </a:xfrm>
          <a:prstGeom prst="roundRect">
            <a:avLst>
              <a:gd name="adj" fmla="val 9310"/>
            </a:avLst>
          </a:prstGeom>
          <a:solidFill>
            <a:srgbClr val="FFFFFF"/>
          </a:solidFill>
          <a:ln w="6350">
            <a:solidFill>
              <a:srgbClr val="E2E0D9"/>
            </a:solidFill>
            <a:prstDash val="solid"/>
          </a:ln>
        </p:spPr>
        <p:txBody>
          <a:bodyPr/>
          <a:lstStyle/>
          <a:p>
            <a:endParaRPr lang="en-US"/>
          </a:p>
        </p:txBody>
      </p:sp>
      <p:sp>
        <p:nvSpPr>
          <p:cNvPr id="17" name="Text 15"/>
          <p:cNvSpPr/>
          <p:nvPr/>
        </p:nvSpPr>
        <p:spPr>
          <a:xfrm>
            <a:off x="8387733" y="2891075"/>
            <a:ext cx="2918286"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Grid Sense</a:t>
            </a:r>
            <a:endParaRPr lang="en-US" sz="1400" dirty="0"/>
          </a:p>
        </p:txBody>
      </p:sp>
      <p:sp>
        <p:nvSpPr>
          <p:cNvPr id="18" name="Text 16"/>
          <p:cNvSpPr/>
          <p:nvPr/>
        </p:nvSpPr>
        <p:spPr>
          <a:xfrm>
            <a:off x="8387733" y="3151383"/>
            <a:ext cx="2918286"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refined fine sensing: payload-aided, on the full grid</a:t>
            </a:r>
            <a:endParaRPr lang="en-US" sz="1200" dirty="0"/>
          </a:p>
        </p:txBody>
      </p:sp>
      <p:sp>
        <p:nvSpPr>
          <p:cNvPr id="19" name="Shape 17"/>
          <p:cNvSpPr/>
          <p:nvPr/>
        </p:nvSpPr>
        <p:spPr>
          <a:xfrm>
            <a:off x="4930713" y="3853698"/>
            <a:ext cx="3143267" cy="920765"/>
          </a:xfrm>
          <a:prstGeom prst="roundRect">
            <a:avLst>
              <a:gd name="adj" fmla="val 9310"/>
            </a:avLst>
          </a:prstGeom>
          <a:solidFill>
            <a:srgbClr val="FFFFFF"/>
          </a:solidFill>
          <a:ln w="6350">
            <a:solidFill>
              <a:srgbClr val="E2E0D9"/>
            </a:solidFill>
            <a:prstDash val="solid"/>
          </a:ln>
        </p:spPr>
        <p:txBody>
          <a:bodyPr/>
          <a:lstStyle/>
          <a:p>
            <a:endParaRPr lang="en-US"/>
          </a:p>
        </p:txBody>
      </p:sp>
      <p:sp>
        <p:nvSpPr>
          <p:cNvPr id="20" name="Text 18"/>
          <p:cNvSpPr/>
          <p:nvPr/>
        </p:nvSpPr>
        <p:spPr>
          <a:xfrm>
            <a:off x="5085725" y="3970579"/>
            <a:ext cx="2918240"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OTA Sense</a:t>
            </a:r>
            <a:endParaRPr lang="en-US" sz="1400" dirty="0"/>
          </a:p>
        </p:txBody>
      </p:sp>
      <p:sp>
        <p:nvSpPr>
          <p:cNvPr id="21" name="Text 19"/>
          <p:cNvSpPr/>
          <p:nvPr/>
        </p:nvSpPr>
        <p:spPr>
          <a:xfrm>
            <a:off x="5085725" y="4230889"/>
            <a:ext cx="2918240"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real-radio receive path: acquisition, CLEAN, micro-Doppler</a:t>
            </a:r>
            <a:endParaRPr lang="en-US" sz="1200" dirty="0"/>
          </a:p>
        </p:txBody>
      </p:sp>
      <p:sp>
        <p:nvSpPr>
          <p:cNvPr id="22" name="Shape 20"/>
          <p:cNvSpPr/>
          <p:nvPr/>
        </p:nvSpPr>
        <p:spPr>
          <a:xfrm>
            <a:off x="8232720" y="3853698"/>
            <a:ext cx="3143312" cy="920765"/>
          </a:xfrm>
          <a:prstGeom prst="roundRect">
            <a:avLst>
              <a:gd name="adj" fmla="val 9310"/>
            </a:avLst>
          </a:prstGeom>
          <a:solidFill>
            <a:srgbClr val="FFFFFF"/>
          </a:solidFill>
          <a:ln w="6350">
            <a:solidFill>
              <a:srgbClr val="E2E0D9"/>
            </a:solidFill>
            <a:prstDash val="solid"/>
          </a:ln>
        </p:spPr>
        <p:txBody>
          <a:bodyPr/>
          <a:lstStyle/>
          <a:p>
            <a:endParaRPr lang="en-US"/>
          </a:p>
        </p:txBody>
      </p:sp>
      <p:sp>
        <p:nvSpPr>
          <p:cNvPr id="23" name="Text 21"/>
          <p:cNvSpPr/>
          <p:nvPr/>
        </p:nvSpPr>
        <p:spPr>
          <a:xfrm>
            <a:off x="8387733" y="3970579"/>
            <a:ext cx="2918286"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Link Budget</a:t>
            </a:r>
            <a:endParaRPr lang="en-US" sz="1400" dirty="0"/>
          </a:p>
        </p:txBody>
      </p:sp>
      <p:sp>
        <p:nvSpPr>
          <p:cNvPr id="24" name="Text 22"/>
          <p:cNvSpPr/>
          <p:nvPr/>
        </p:nvSpPr>
        <p:spPr>
          <a:xfrm>
            <a:off x="8387733" y="4230889"/>
            <a:ext cx="2918286"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what a geometry and target can, and cannot, detect</a:t>
            </a:r>
            <a:endParaRPr lang="en-US" sz="1200" dirty="0"/>
          </a:p>
        </p:txBody>
      </p:sp>
      <p:sp>
        <p:nvSpPr>
          <p:cNvPr id="25" name="Text 23"/>
          <p:cNvSpPr/>
          <p:nvPr/>
        </p:nvSpPr>
        <p:spPr>
          <a:xfrm>
            <a:off x="812765" y="6238280"/>
            <a:ext cx="7848582"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NTN ISAC in GNU Radio · GRCon 2026</a:t>
            </a:r>
            <a:endParaRPr lang="en-US" sz="1200" dirty="0"/>
          </a:p>
        </p:txBody>
      </p:sp>
      <p:sp>
        <p:nvSpPr>
          <p:cNvPr id="26" name="Text 24"/>
          <p:cNvSpPr/>
          <p:nvPr/>
        </p:nvSpPr>
        <p:spPr>
          <a:xfrm>
            <a:off x="10058426" y="6238280"/>
            <a:ext cx="1320782"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34" charset="0"/>
                <a:ea typeface="JetBrains Mono" pitchFamily="34" charset="-122"/>
                <a:cs typeface="JetBrains Mono"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66"/>
            <a:ext cx="10883436"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BACKGROUND · NTN</a:t>
            </a:r>
            <a:endParaRPr lang="en-US" sz="1200" dirty="0"/>
          </a:p>
        </p:txBody>
      </p:sp>
      <p:sp>
        <p:nvSpPr>
          <p:cNvPr id="3" name="Text 1"/>
          <p:cNvSpPr/>
          <p:nvPr/>
        </p:nvSpPr>
        <p:spPr>
          <a:xfrm>
            <a:off x="812765" y="1071807"/>
            <a:ext cx="10883436" cy="416543"/>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72030"/>
                </a:solidFill>
                <a:latin typeface="IBM Plex Sans" pitchFamily="34" charset="0"/>
                <a:ea typeface="IBM Plex Sans" pitchFamily="34" charset="-122"/>
                <a:cs typeface="IBM Plex Sans" pitchFamily="34" charset="-120"/>
              </a:rPr>
              <a:t>NTN: 5G NR from a satellite, and what a pass does</a:t>
            </a:r>
            <a:endParaRPr lang="en-US" sz="2800" dirty="0"/>
          </a:p>
        </p:txBody>
      </p:sp>
      <p:pic>
        <p:nvPicPr>
          <p:cNvPr id="4" name="Image 0" descr="One-way delay, Doppler and free-space path loss over a 10-minute LEO pass"/>
          <p:cNvPicPr>
            <a:picLocks noChangeAspect="1"/>
          </p:cNvPicPr>
          <p:nvPr/>
        </p:nvPicPr>
        <p:blipFill>
          <a:blip r:embed="rId3"/>
          <a:srcRect l="-212" r="-212"/>
          <a:stretch/>
        </p:blipFill>
        <p:spPr>
          <a:xfrm>
            <a:off x="1924026" y="1697862"/>
            <a:ext cx="8343875" cy="2400279"/>
          </a:xfrm>
          <a:prstGeom prst="roundRect">
            <a:avLst>
              <a:gd name="adj" fmla="val 2910"/>
            </a:avLst>
          </a:prstGeom>
        </p:spPr>
      </p:pic>
      <p:sp>
        <p:nvSpPr>
          <p:cNvPr id="5" name="Shape 2"/>
          <p:cNvSpPr/>
          <p:nvPr/>
        </p:nvSpPr>
        <p:spPr>
          <a:xfrm>
            <a:off x="1920851" y="1694687"/>
            <a:ext cx="8350225" cy="2406629"/>
          </a:xfrm>
          <a:prstGeom prst="roundRect">
            <a:avLst>
              <a:gd name="adj" fmla="val 3034"/>
            </a:avLst>
          </a:prstGeom>
          <a:noFill/>
          <a:ln w="6350">
            <a:solidFill>
              <a:srgbClr val="E2E0D9"/>
            </a:solidFill>
            <a:prstDash val="solid"/>
          </a:ln>
        </p:spPr>
        <p:txBody>
          <a:bodyPr/>
          <a:lstStyle/>
          <a:p>
            <a:endParaRPr lang="en-US"/>
          </a:p>
        </p:txBody>
      </p:sp>
      <p:sp>
        <p:nvSpPr>
          <p:cNvPr id="6" name="Shape 3"/>
          <p:cNvSpPr/>
          <p:nvPr/>
        </p:nvSpPr>
        <p:spPr>
          <a:xfrm>
            <a:off x="815940" y="4310825"/>
            <a:ext cx="2520934" cy="1280207"/>
          </a:xfrm>
          <a:prstGeom prst="roundRect">
            <a:avLst>
              <a:gd name="adj" fmla="val 6696"/>
            </a:avLst>
          </a:prstGeom>
          <a:solidFill>
            <a:srgbClr val="FFFFFF"/>
          </a:solidFill>
          <a:ln w="6350">
            <a:solidFill>
              <a:srgbClr val="E2E0D9"/>
            </a:solidFill>
            <a:prstDash val="solid"/>
          </a:ln>
        </p:spPr>
        <p:txBody>
          <a:bodyPr/>
          <a:lstStyle/>
          <a:p>
            <a:endParaRPr lang="en-US"/>
          </a:p>
        </p:txBody>
      </p:sp>
      <p:sp>
        <p:nvSpPr>
          <p:cNvPr id="7" name="Text 4"/>
          <p:cNvSpPr/>
          <p:nvPr/>
        </p:nvSpPr>
        <p:spPr>
          <a:xfrm>
            <a:off x="996358" y="4465839"/>
            <a:ext cx="2224900" cy="304775"/>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B34E1B"/>
                </a:solidFill>
                <a:latin typeface="JetBrains Mono" pitchFamily="34" charset="0"/>
                <a:ea typeface="JetBrains Mono" pitchFamily="34" charset="-122"/>
                <a:cs typeface="JetBrains Mono" pitchFamily="34" charset="-120"/>
              </a:rPr>
              <a:t>Rel-17</a:t>
            </a:r>
            <a:endParaRPr lang="en-US" sz="2000" dirty="0"/>
          </a:p>
        </p:txBody>
      </p:sp>
      <p:sp>
        <p:nvSpPr>
          <p:cNvPr id="8" name="Text 5"/>
          <p:cNvSpPr/>
          <p:nvPr/>
        </p:nvSpPr>
        <p:spPr>
          <a:xfrm>
            <a:off x="996358" y="4795980"/>
            <a:ext cx="2224900" cy="6654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3GPP NR over satellite: bands n255 (L) and n256 (S), 5 to 20 MHz carriers</a:t>
            </a:r>
            <a:endParaRPr lang="en-US" sz="1200" dirty="0"/>
          </a:p>
        </p:txBody>
      </p:sp>
      <p:sp>
        <p:nvSpPr>
          <p:cNvPr id="9" name="Shape 6"/>
          <p:cNvSpPr/>
          <p:nvPr/>
        </p:nvSpPr>
        <p:spPr>
          <a:xfrm>
            <a:off x="3495614" y="4310825"/>
            <a:ext cx="2520979" cy="1280207"/>
          </a:xfrm>
          <a:prstGeom prst="roundRect">
            <a:avLst>
              <a:gd name="adj" fmla="val 6696"/>
            </a:avLst>
          </a:prstGeom>
          <a:solidFill>
            <a:srgbClr val="FFFFFF"/>
          </a:solidFill>
          <a:ln w="6350">
            <a:solidFill>
              <a:srgbClr val="E2E0D9"/>
            </a:solidFill>
            <a:prstDash val="solid"/>
          </a:ln>
        </p:spPr>
        <p:txBody>
          <a:bodyPr/>
          <a:lstStyle/>
          <a:p>
            <a:endParaRPr lang="en-US"/>
          </a:p>
        </p:txBody>
      </p:sp>
      <p:sp>
        <p:nvSpPr>
          <p:cNvPr id="10" name="Text 7"/>
          <p:cNvSpPr/>
          <p:nvPr/>
        </p:nvSpPr>
        <p:spPr>
          <a:xfrm>
            <a:off x="3676033" y="4465839"/>
            <a:ext cx="2224947" cy="304775"/>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B34E1B"/>
                </a:solidFill>
                <a:latin typeface="JetBrains Mono" pitchFamily="34" charset="0"/>
                <a:ea typeface="JetBrains Mono" pitchFamily="34" charset="-122"/>
                <a:cs typeface="JetBrains Mono" pitchFamily="34" charset="-120"/>
              </a:rPr>
              <a:t>5.3 ms</a:t>
            </a:r>
            <a:endParaRPr lang="en-US" sz="2000" dirty="0"/>
          </a:p>
        </p:txBody>
      </p:sp>
      <p:sp>
        <p:nvSpPr>
          <p:cNvPr id="11" name="Text 8"/>
          <p:cNvSpPr/>
          <p:nvPr/>
        </p:nvSpPr>
        <p:spPr>
          <a:xfrm>
            <a:off x="3676033" y="4795980"/>
            <a:ext cx="2224947" cy="6654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change in one-way delay over the pass: up to 22 µs every second</a:t>
            </a:r>
            <a:endParaRPr lang="en-US" sz="1200" dirty="0"/>
          </a:p>
        </p:txBody>
      </p:sp>
      <p:sp>
        <p:nvSpPr>
          <p:cNvPr id="12" name="Shape 9"/>
          <p:cNvSpPr/>
          <p:nvPr/>
        </p:nvSpPr>
        <p:spPr>
          <a:xfrm>
            <a:off x="6175334" y="4310825"/>
            <a:ext cx="2520979" cy="1280207"/>
          </a:xfrm>
          <a:prstGeom prst="roundRect">
            <a:avLst>
              <a:gd name="adj" fmla="val 6696"/>
            </a:avLst>
          </a:prstGeom>
          <a:solidFill>
            <a:srgbClr val="FFFFFF"/>
          </a:solidFill>
          <a:ln w="6350">
            <a:solidFill>
              <a:srgbClr val="E2E0D9"/>
            </a:solidFill>
            <a:prstDash val="solid"/>
          </a:ln>
        </p:spPr>
        <p:txBody>
          <a:bodyPr/>
          <a:lstStyle/>
          <a:p>
            <a:endParaRPr lang="en-US"/>
          </a:p>
        </p:txBody>
      </p:sp>
      <p:sp>
        <p:nvSpPr>
          <p:cNvPr id="13" name="Text 10"/>
          <p:cNvSpPr/>
          <p:nvPr/>
        </p:nvSpPr>
        <p:spPr>
          <a:xfrm>
            <a:off x="6355752" y="4465839"/>
            <a:ext cx="2224947" cy="304775"/>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B34E1B"/>
                </a:solidFill>
                <a:latin typeface="JetBrains Mono" pitchFamily="34" charset="0"/>
                <a:ea typeface="JetBrains Mono" pitchFamily="34" charset="-122"/>
                <a:cs typeface="JetBrains Mono" pitchFamily="34" charset="-120"/>
              </a:rPr>
              <a:t>±54.9 kHz</a:t>
            </a:r>
            <a:endParaRPr lang="en-US" sz="2000" dirty="0"/>
          </a:p>
        </p:txBody>
      </p:sp>
      <p:sp>
        <p:nvSpPr>
          <p:cNvPr id="14" name="Text 11"/>
          <p:cNvSpPr/>
          <p:nvPr/>
        </p:nvSpPr>
        <p:spPr>
          <a:xfrm>
            <a:off x="6355752" y="4795980"/>
            <a:ext cx="2224947"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Doppler at 2478 MHz, changing up to 678 Hz/s</a:t>
            </a:r>
            <a:endParaRPr lang="en-US" sz="1200" dirty="0"/>
          </a:p>
        </p:txBody>
      </p:sp>
      <p:sp>
        <p:nvSpPr>
          <p:cNvPr id="15" name="Shape 12"/>
          <p:cNvSpPr/>
          <p:nvPr/>
        </p:nvSpPr>
        <p:spPr>
          <a:xfrm>
            <a:off x="8855053" y="4310825"/>
            <a:ext cx="2520979" cy="1280207"/>
          </a:xfrm>
          <a:prstGeom prst="roundRect">
            <a:avLst>
              <a:gd name="adj" fmla="val 6696"/>
            </a:avLst>
          </a:prstGeom>
          <a:solidFill>
            <a:srgbClr val="FFFFFF"/>
          </a:solidFill>
          <a:ln w="6350">
            <a:solidFill>
              <a:srgbClr val="E2E0D9"/>
            </a:solidFill>
            <a:prstDash val="solid"/>
          </a:ln>
        </p:spPr>
        <p:txBody>
          <a:bodyPr/>
          <a:lstStyle/>
          <a:p>
            <a:endParaRPr lang="en-US"/>
          </a:p>
        </p:txBody>
      </p:sp>
      <p:sp>
        <p:nvSpPr>
          <p:cNvPr id="16" name="Text 13"/>
          <p:cNvSpPr/>
          <p:nvPr/>
        </p:nvSpPr>
        <p:spPr>
          <a:xfrm>
            <a:off x="9035472" y="4465839"/>
            <a:ext cx="2224947" cy="304775"/>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B34E1B"/>
                </a:solidFill>
                <a:latin typeface="JetBrains Mono" pitchFamily="34" charset="0"/>
                <a:ea typeface="JetBrains Mono" pitchFamily="34" charset="-122"/>
                <a:cs typeface="JetBrains Mono" pitchFamily="34" charset="-120"/>
              </a:rPr>
              <a:t>11 dB</a:t>
            </a:r>
            <a:endParaRPr lang="en-US" sz="2000" dirty="0"/>
          </a:p>
        </p:txBody>
      </p:sp>
      <p:sp>
        <p:nvSpPr>
          <p:cNvPr id="17" name="Text 14"/>
          <p:cNvSpPr/>
          <p:nvPr/>
        </p:nvSpPr>
        <p:spPr>
          <a:xfrm>
            <a:off x="9035472" y="4795980"/>
            <a:ext cx="2224947" cy="6654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path-loss swing: 156 dB overhead to 167 dB at the window edges</a:t>
            </a:r>
            <a:endParaRPr lang="en-US" sz="1200" dirty="0"/>
          </a:p>
        </p:txBody>
      </p:sp>
      <p:sp>
        <p:nvSpPr>
          <p:cNvPr id="18" name="Text 15"/>
          <p:cNvSpPr/>
          <p:nvPr/>
        </p:nvSpPr>
        <p:spPr>
          <a:xfrm>
            <a:off x="812765" y="6238280"/>
            <a:ext cx="7848582"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NTN ISAC in GNU Radio · GRCon 2026</a:t>
            </a:r>
            <a:endParaRPr lang="en-US" sz="1200" dirty="0"/>
          </a:p>
        </p:txBody>
      </p:sp>
      <p:sp>
        <p:nvSpPr>
          <p:cNvPr id="19" name="Text 16"/>
          <p:cNvSpPr/>
          <p:nvPr/>
        </p:nvSpPr>
        <p:spPr>
          <a:xfrm>
            <a:off x="10058426" y="6238280"/>
            <a:ext cx="1320782"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34" charset="0"/>
                <a:ea typeface="JetBrains Mono" pitchFamily="34" charset="-122"/>
                <a:cs typeface="JetBrains Mono"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66"/>
            <a:ext cx="10883436"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BACKGROUND · ISAC</a:t>
            </a:r>
            <a:endParaRPr lang="en-US" sz="1200" dirty="0"/>
          </a:p>
        </p:txBody>
      </p:sp>
      <p:sp>
        <p:nvSpPr>
          <p:cNvPr id="3" name="Text 1"/>
          <p:cNvSpPr/>
          <p:nvPr/>
        </p:nvSpPr>
        <p:spPr>
          <a:xfrm>
            <a:off x="812765" y="1071807"/>
            <a:ext cx="10883436" cy="416543"/>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72030"/>
                </a:solidFill>
                <a:latin typeface="IBM Plex Sans" pitchFamily="34" charset="0"/>
                <a:ea typeface="IBM Plex Sans" pitchFamily="34" charset="-122"/>
                <a:cs typeface="IBM Plex Sans" pitchFamily="34" charset="-120"/>
              </a:rPr>
              <a:t>One receiver, two paths, two observables</a:t>
            </a:r>
            <a:endParaRPr lang="en-US" sz="2800" dirty="0"/>
          </a:p>
        </p:txBody>
      </p:sp>
      <p:pic>
        <p:nvPicPr>
          <p:cNvPr id="4" name="Image 0" descr="Bistatic geometry: satellite, target, receiver; and a sketch of a delay-Doppler map"/>
          <p:cNvPicPr>
            <a:picLocks noChangeAspect="1"/>
          </p:cNvPicPr>
          <p:nvPr/>
        </p:nvPicPr>
        <p:blipFill>
          <a:blip r:embed="rId3"/>
          <a:srcRect l="-195" r="-195"/>
          <a:stretch/>
        </p:blipFill>
        <p:spPr>
          <a:xfrm>
            <a:off x="819115" y="2031312"/>
            <a:ext cx="6845284" cy="2622548"/>
          </a:xfrm>
          <a:prstGeom prst="roundRect">
            <a:avLst>
              <a:gd name="adj" fmla="val 2663"/>
            </a:avLst>
          </a:prstGeom>
        </p:spPr>
      </p:pic>
      <p:sp>
        <p:nvSpPr>
          <p:cNvPr id="5" name="Shape 2"/>
          <p:cNvSpPr/>
          <p:nvPr/>
        </p:nvSpPr>
        <p:spPr>
          <a:xfrm>
            <a:off x="815940" y="2028137"/>
            <a:ext cx="6851634" cy="2628898"/>
          </a:xfrm>
          <a:prstGeom prst="roundRect">
            <a:avLst>
              <a:gd name="adj" fmla="val 2778"/>
            </a:avLst>
          </a:prstGeom>
          <a:noFill/>
          <a:ln w="6350">
            <a:solidFill>
              <a:srgbClr val="E2E0D9"/>
            </a:solidFill>
            <a:prstDash val="solid"/>
          </a:ln>
        </p:spPr>
        <p:txBody>
          <a:bodyPr/>
          <a:lstStyle/>
          <a:p>
            <a:endParaRPr lang="en-US"/>
          </a:p>
        </p:txBody>
      </p:sp>
      <p:sp>
        <p:nvSpPr>
          <p:cNvPr id="6" name="Shape 3"/>
          <p:cNvSpPr/>
          <p:nvPr/>
        </p:nvSpPr>
        <p:spPr>
          <a:xfrm>
            <a:off x="7927894" y="1694687"/>
            <a:ext cx="3448048" cy="1009708"/>
          </a:xfrm>
          <a:prstGeom prst="roundRect">
            <a:avLst>
              <a:gd name="adj" fmla="val 8490"/>
            </a:avLst>
          </a:prstGeom>
          <a:solidFill>
            <a:srgbClr val="FFFFFF"/>
          </a:solidFill>
          <a:ln w="6350">
            <a:solidFill>
              <a:srgbClr val="E2E0D9"/>
            </a:solidFill>
            <a:prstDash val="solid"/>
          </a:ln>
        </p:spPr>
        <p:txBody>
          <a:bodyPr/>
          <a:lstStyle/>
          <a:p>
            <a:endParaRPr lang="en-US"/>
          </a:p>
        </p:txBody>
      </p:sp>
      <p:sp>
        <p:nvSpPr>
          <p:cNvPr id="7" name="Text 4"/>
          <p:cNvSpPr/>
          <p:nvPr/>
        </p:nvSpPr>
        <p:spPr>
          <a:xfrm>
            <a:off x="8108312" y="1849701"/>
            <a:ext cx="3179828"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Direct path</a:t>
            </a:r>
            <a:endParaRPr lang="en-US" sz="1400" dirty="0"/>
          </a:p>
        </p:txBody>
      </p:sp>
      <p:sp>
        <p:nvSpPr>
          <p:cNvPr id="8" name="Text 5"/>
          <p:cNvSpPr/>
          <p:nvPr/>
        </p:nvSpPr>
        <p:spPr>
          <a:xfrm>
            <a:off x="8108312" y="2122692"/>
            <a:ext cx="3179828"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strong. It is the comms signal and the radar's reference for what was sent</a:t>
            </a:r>
            <a:endParaRPr lang="en-US" sz="1200" dirty="0"/>
          </a:p>
        </p:txBody>
      </p:sp>
      <p:sp>
        <p:nvSpPr>
          <p:cNvPr id="9" name="Shape 6"/>
          <p:cNvSpPr/>
          <p:nvPr/>
        </p:nvSpPr>
        <p:spPr>
          <a:xfrm>
            <a:off x="7927894" y="2837731"/>
            <a:ext cx="3448048" cy="1009708"/>
          </a:xfrm>
          <a:prstGeom prst="roundRect">
            <a:avLst>
              <a:gd name="adj" fmla="val 8490"/>
            </a:avLst>
          </a:prstGeom>
          <a:solidFill>
            <a:srgbClr val="FFFFFF"/>
          </a:solidFill>
          <a:ln w="6350">
            <a:solidFill>
              <a:srgbClr val="E2E0D9"/>
            </a:solidFill>
            <a:prstDash val="solid"/>
          </a:ln>
        </p:spPr>
        <p:txBody>
          <a:bodyPr/>
          <a:lstStyle/>
          <a:p>
            <a:endParaRPr lang="en-US"/>
          </a:p>
        </p:txBody>
      </p:sp>
      <p:sp>
        <p:nvSpPr>
          <p:cNvPr id="10" name="Text 7"/>
          <p:cNvSpPr/>
          <p:nvPr/>
        </p:nvSpPr>
        <p:spPr>
          <a:xfrm>
            <a:off x="8108312" y="2992744"/>
            <a:ext cx="3179828"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Echo</a:t>
            </a:r>
            <a:endParaRPr lang="en-US" sz="1400" dirty="0"/>
          </a:p>
        </p:txBody>
      </p:sp>
      <p:sp>
        <p:nvSpPr>
          <p:cNvPr id="11" name="Text 8"/>
          <p:cNvSpPr/>
          <p:nvPr/>
        </p:nvSpPr>
        <p:spPr>
          <a:xfrm>
            <a:off x="8108312" y="3265732"/>
            <a:ext cx="3179828"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weak and later. Correlate it against the reference to find it</a:t>
            </a:r>
            <a:endParaRPr lang="en-US" sz="1200" dirty="0"/>
          </a:p>
        </p:txBody>
      </p:sp>
      <p:sp>
        <p:nvSpPr>
          <p:cNvPr id="12" name="Shape 9"/>
          <p:cNvSpPr/>
          <p:nvPr/>
        </p:nvSpPr>
        <p:spPr>
          <a:xfrm>
            <a:off x="7927894" y="3980774"/>
            <a:ext cx="3448048" cy="1009708"/>
          </a:xfrm>
          <a:prstGeom prst="roundRect">
            <a:avLst>
              <a:gd name="adj" fmla="val 8490"/>
            </a:avLst>
          </a:prstGeom>
          <a:solidFill>
            <a:srgbClr val="FFFFFF"/>
          </a:solidFill>
          <a:ln w="6350">
            <a:solidFill>
              <a:srgbClr val="E2E0D9"/>
            </a:solidFill>
            <a:prstDash val="solid"/>
          </a:ln>
        </p:spPr>
        <p:txBody>
          <a:bodyPr/>
          <a:lstStyle/>
          <a:p>
            <a:endParaRPr lang="en-US"/>
          </a:p>
        </p:txBody>
      </p:sp>
      <p:sp>
        <p:nvSpPr>
          <p:cNvPr id="13" name="Text 10"/>
          <p:cNvSpPr/>
          <p:nvPr/>
        </p:nvSpPr>
        <p:spPr>
          <a:xfrm>
            <a:off x="8108312" y="4135785"/>
            <a:ext cx="3179828"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Two numbers per dwell</a:t>
            </a:r>
            <a:endParaRPr lang="en-US" sz="1400" dirty="0"/>
          </a:p>
        </p:txBody>
      </p:sp>
      <p:sp>
        <p:nvSpPr>
          <p:cNvPr id="14" name="Text 11"/>
          <p:cNvSpPr/>
          <p:nvPr/>
        </p:nvSpPr>
        <p:spPr>
          <a:xfrm>
            <a:off x="8108312" y="4408776"/>
            <a:ext cx="3179828"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excess range ΔR = (Rt + Rr) − Rd, and Doppler. One antenna gives no 3-D position</a:t>
            </a:r>
            <a:endParaRPr lang="en-US" sz="1200" dirty="0"/>
          </a:p>
        </p:txBody>
      </p:sp>
      <p:sp>
        <p:nvSpPr>
          <p:cNvPr id="15" name="Text 12"/>
          <p:cNvSpPr/>
          <p:nvPr/>
        </p:nvSpPr>
        <p:spPr>
          <a:xfrm>
            <a:off x="812765" y="6238280"/>
            <a:ext cx="7848582"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NTN ISAC in GNU Radio · GRCon 2026</a:t>
            </a:r>
            <a:endParaRPr lang="en-US" sz="1200" dirty="0"/>
          </a:p>
        </p:txBody>
      </p:sp>
      <p:sp>
        <p:nvSpPr>
          <p:cNvPr id="16" name="Text 13"/>
          <p:cNvSpPr/>
          <p:nvPr/>
        </p:nvSpPr>
        <p:spPr>
          <a:xfrm>
            <a:off x="10058426" y="6238280"/>
            <a:ext cx="1320782"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34" charset="0"/>
                <a:ea typeface="JetBrains Mono" pitchFamily="34" charset="-122"/>
                <a:cs typeface="JetBrains Mono"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66"/>
            <a:ext cx="10883436"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RESOLUTION</a:t>
            </a:r>
            <a:endParaRPr lang="en-US" sz="1200" dirty="0"/>
          </a:p>
        </p:txBody>
      </p:sp>
      <p:sp>
        <p:nvSpPr>
          <p:cNvPr id="3" name="Text 1"/>
          <p:cNvSpPr/>
          <p:nvPr/>
        </p:nvSpPr>
        <p:spPr>
          <a:xfrm>
            <a:off x="812765" y="1071807"/>
            <a:ext cx="10883436" cy="416543"/>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72030"/>
                </a:solidFill>
                <a:latin typeface="IBM Plex Sans" pitchFamily="34" charset="0"/>
                <a:ea typeface="IBM Plex Sans" pitchFamily="34" charset="-122"/>
                <a:cs typeface="IBM Plex Sans" pitchFamily="34" charset="-120"/>
              </a:rPr>
              <a:t>Bandwidth sets delay resolution, dwell sets Doppler</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765" y="1691512"/>
          <a:ext cx="5714987" cy="1326184"/>
        </p:xfrm>
        <a:graphic>
          <a:graphicData uri="http://schemas.openxmlformats.org/drawingml/2006/table">
            <a:tbl>
              <a:tblPr/>
              <a:tblGrid>
                <a:gridCol w="3200393">
                  <a:extLst>
                    <a:ext uri="{9D8B030D-6E8A-4147-A177-3AD203B41FA5}">
                      <a16:colId xmlns:a16="http://schemas.microsoft.com/office/drawing/2014/main" val="20000"/>
                    </a:ext>
                  </a:extLst>
                </a:gridCol>
                <a:gridCol w="1257297">
                  <a:extLst>
                    <a:ext uri="{9D8B030D-6E8A-4147-A177-3AD203B41FA5}">
                      <a16:colId xmlns:a16="http://schemas.microsoft.com/office/drawing/2014/main" val="20001"/>
                    </a:ext>
                  </a:extLst>
                </a:gridCol>
                <a:gridCol w="1257297">
                  <a:extLst>
                    <a:ext uri="{9D8B030D-6E8A-4147-A177-3AD203B41FA5}">
                      <a16:colId xmlns:a16="http://schemas.microsoft.com/office/drawing/2014/main" val="20002"/>
                    </a:ext>
                  </a:extLst>
                </a:gridCol>
              </a:tblGrid>
              <a:tr h="331546">
                <a:tc>
                  <a:txBody>
                    <a:bodyPr/>
                    <a:lstStyle/>
                    <a:p>
                      <a:pPr marL="0" indent="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Carrier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tc>
                  <a:txBody>
                    <a:bodyPr/>
                    <a:lstStyle/>
                    <a:p>
                      <a:pPr marL="0" indent="0" algn="r">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Occupied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tc>
                  <a:txBody>
                    <a:bodyPr/>
                    <a:lstStyle/>
                    <a:p>
                      <a:pPr marL="0" indent="0" algn="r">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Delay cell</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extLst>
                  <a:ext uri="{0D108BD9-81ED-4DB2-BD59-A6C34878D82A}">
                    <a16:rowId xmlns:a16="http://schemas.microsoft.com/office/drawing/2014/main" val="10000"/>
                  </a:ext>
                </a:extLst>
              </a:tr>
              <a:tr h="331546">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5 MHz, 25 PRB at 15 kHz (ours)</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4.5 MHz</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66.6 m</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1546">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20 MHz, 106 PRB at 15 kHz</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19.08 MHz</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15.7 m</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extLst>
                  <a:ext uri="{0D108BD9-81ED-4DB2-BD59-A6C34878D82A}">
                    <a16:rowId xmlns:a16="http://schemas.microsoft.com/office/drawing/2014/main" val="10002"/>
                  </a:ext>
                </a:extLst>
              </a:tr>
              <a:tr h="331546">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100 MHz, 273 PRB at 30 kHz (terrestrial)</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98.28 MHz</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3.05 m</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812765" y="3162071"/>
            <a:ext cx="5886437"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Excess-range cell = c / occupied bandwidth.</a:t>
            </a:r>
            <a:endParaRPr lang="en-US" sz="1200" dirty="0"/>
          </a:p>
        </p:txBody>
      </p:sp>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812765" y="3502403"/>
          <a:ext cx="5714987" cy="1326184"/>
        </p:xfrm>
        <a:graphic>
          <a:graphicData uri="http://schemas.openxmlformats.org/drawingml/2006/table">
            <a:tbl>
              <a:tblPr/>
              <a:tblGrid>
                <a:gridCol w="3200393">
                  <a:extLst>
                    <a:ext uri="{9D8B030D-6E8A-4147-A177-3AD203B41FA5}">
                      <a16:colId xmlns:a16="http://schemas.microsoft.com/office/drawing/2014/main" val="20000"/>
                    </a:ext>
                  </a:extLst>
                </a:gridCol>
                <a:gridCol w="2514594">
                  <a:extLst>
                    <a:ext uri="{9D8B030D-6E8A-4147-A177-3AD203B41FA5}">
                      <a16:colId xmlns:a16="http://schemas.microsoft.com/office/drawing/2014/main" val="20001"/>
                    </a:ext>
                  </a:extLst>
                </a:gridCol>
              </a:tblGrid>
              <a:tr h="331546">
                <a:tc>
                  <a:txBody>
                    <a:bodyPr/>
                    <a:lstStyle/>
                    <a:p>
                      <a:pPr marL="0" indent="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Coherent dwell</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tc>
                  <a:txBody>
                    <a:bodyPr/>
                    <a:lstStyle/>
                    <a:p>
                      <a:pPr marL="0" indent="0" algn="r">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Doppler cell</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extLst>
                  <a:ext uri="{0D108BD9-81ED-4DB2-BD59-A6C34878D82A}">
                    <a16:rowId xmlns:a16="http://schemas.microsoft.com/office/drawing/2014/main" val="10000"/>
                  </a:ext>
                </a:extLst>
              </a:tr>
              <a:tr h="331546">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20 ms</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50 Hz</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1546">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100 ms</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10 Hz</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extLst>
                  <a:ext uri="{0D108BD9-81ED-4DB2-BD59-A6C34878D82A}">
                    <a16:rowId xmlns:a16="http://schemas.microsoft.com/office/drawing/2014/main" val="10002"/>
                  </a:ext>
                </a:extLst>
              </a:tr>
              <a:tr h="331546">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1 s</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1 Hz</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3"/>
          <p:cNvSpPr/>
          <p:nvPr/>
        </p:nvSpPr>
        <p:spPr>
          <a:xfrm>
            <a:off x="6784897" y="1694687"/>
            <a:ext cx="4591136" cy="853513"/>
          </a:xfrm>
          <a:prstGeom prst="roundRect">
            <a:avLst>
              <a:gd name="adj" fmla="val 10044"/>
            </a:avLst>
          </a:prstGeom>
          <a:solidFill>
            <a:srgbClr val="FFFFFF"/>
          </a:solidFill>
          <a:ln w="6350">
            <a:solidFill>
              <a:srgbClr val="E2E0D9"/>
            </a:solidFill>
            <a:prstDash val="solid"/>
          </a:ln>
        </p:spPr>
        <p:txBody>
          <a:bodyPr/>
          <a:lstStyle/>
          <a:p>
            <a:endParaRPr lang="en-US"/>
          </a:p>
        </p:txBody>
      </p:sp>
      <p:sp>
        <p:nvSpPr>
          <p:cNvPr id="8" name="Text 4"/>
          <p:cNvSpPr/>
          <p:nvPr/>
        </p:nvSpPr>
        <p:spPr>
          <a:xfrm>
            <a:off x="6965314" y="1849701"/>
            <a:ext cx="4357209" cy="304775"/>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B34E1B"/>
                </a:solidFill>
                <a:latin typeface="JetBrains Mono" pitchFamily="34" charset="0"/>
                <a:ea typeface="JetBrains Mono" pitchFamily="34" charset="-122"/>
                <a:cs typeface="JetBrains Mono" pitchFamily="34" charset="-120"/>
              </a:rPr>
              <a:t>66.6 m</a:t>
            </a:r>
            <a:endParaRPr lang="en-US" sz="2000" dirty="0"/>
          </a:p>
        </p:txBody>
      </p:sp>
      <p:sp>
        <p:nvSpPr>
          <p:cNvPr id="9" name="Text 5"/>
          <p:cNvSpPr/>
          <p:nvPr/>
        </p:nvSpPr>
        <p:spPr>
          <a:xfrm>
            <a:off x="6965314" y="2179842"/>
            <a:ext cx="4357209"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two reflectors closer than this in excess path fall into one cell</a:t>
            </a:r>
            <a:endParaRPr lang="en-US" sz="1200" dirty="0"/>
          </a:p>
        </p:txBody>
      </p:sp>
      <p:sp>
        <p:nvSpPr>
          <p:cNvPr id="10" name="Shape 6"/>
          <p:cNvSpPr/>
          <p:nvPr/>
        </p:nvSpPr>
        <p:spPr>
          <a:xfrm>
            <a:off x="6784897" y="2681536"/>
            <a:ext cx="4591136" cy="1223055"/>
          </a:xfrm>
          <a:prstGeom prst="roundRect">
            <a:avLst>
              <a:gd name="adj" fmla="val 7009"/>
            </a:avLst>
          </a:prstGeom>
          <a:solidFill>
            <a:srgbClr val="FFFFFF"/>
          </a:solidFill>
          <a:ln w="6350">
            <a:solidFill>
              <a:srgbClr val="E2E0D9"/>
            </a:solidFill>
            <a:prstDash val="solid"/>
          </a:ln>
        </p:spPr>
        <p:txBody>
          <a:bodyPr/>
          <a:lstStyle/>
          <a:p>
            <a:endParaRPr lang="en-US"/>
          </a:p>
        </p:txBody>
      </p:sp>
      <p:sp>
        <p:nvSpPr>
          <p:cNvPr id="11" name="Text 7"/>
          <p:cNvSpPr/>
          <p:nvPr/>
        </p:nvSpPr>
        <p:spPr>
          <a:xfrm>
            <a:off x="6965314" y="2836549"/>
            <a:ext cx="4357209"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Not ours to choose</a:t>
            </a:r>
            <a:endParaRPr lang="en-US" sz="1400" dirty="0"/>
          </a:p>
        </p:txBody>
      </p:sp>
      <p:sp>
        <p:nvSpPr>
          <p:cNvPr id="12" name="Text 8"/>
          <p:cNvSpPr/>
          <p:nvPr/>
        </p:nvSpPr>
        <p:spPr>
          <a:xfrm>
            <a:off x="6965314" y="3109537"/>
            <a:ext cx="4357209" cy="6654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a downlink we listen to gives us its bandwidth. More bandwidth also means more samples: 100 MHz needs 122.88 MS/s, about 490 MB/s each way over USB</a:t>
            </a:r>
            <a:endParaRPr lang="en-US" sz="1200" dirty="0"/>
          </a:p>
        </p:txBody>
      </p:sp>
      <p:sp>
        <p:nvSpPr>
          <p:cNvPr id="13" name="Shape 9"/>
          <p:cNvSpPr/>
          <p:nvPr/>
        </p:nvSpPr>
        <p:spPr>
          <a:xfrm>
            <a:off x="6784897" y="4037927"/>
            <a:ext cx="4591136" cy="796361"/>
          </a:xfrm>
          <a:prstGeom prst="roundRect">
            <a:avLst>
              <a:gd name="adj" fmla="val 10765"/>
            </a:avLst>
          </a:prstGeom>
          <a:solidFill>
            <a:srgbClr val="FFFFFF"/>
          </a:solidFill>
          <a:ln w="6350">
            <a:solidFill>
              <a:srgbClr val="E2E0D9"/>
            </a:solidFill>
            <a:prstDash val="solid"/>
          </a:ln>
        </p:spPr>
        <p:txBody>
          <a:bodyPr/>
          <a:lstStyle/>
          <a:p>
            <a:endParaRPr lang="en-US"/>
          </a:p>
        </p:txBody>
      </p:sp>
      <p:sp>
        <p:nvSpPr>
          <p:cNvPr id="14" name="Text 10"/>
          <p:cNvSpPr/>
          <p:nvPr/>
        </p:nvSpPr>
        <p:spPr>
          <a:xfrm>
            <a:off x="6965314" y="4192938"/>
            <a:ext cx="4357209"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Longer dwell, finer Doppler</a:t>
            </a:r>
            <a:endParaRPr lang="en-US" sz="1400" dirty="0"/>
          </a:p>
        </p:txBody>
      </p:sp>
      <p:sp>
        <p:nvSpPr>
          <p:cNvPr id="15" name="Text 11"/>
          <p:cNvSpPr/>
          <p:nvPr/>
        </p:nvSpPr>
        <p:spPr>
          <a:xfrm>
            <a:off x="6965314" y="4465929"/>
            <a:ext cx="4357209"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but over a long dwell the target moves. Next slide</a:t>
            </a:r>
            <a:endParaRPr lang="en-US" sz="1200" dirty="0"/>
          </a:p>
        </p:txBody>
      </p:sp>
      <p:sp>
        <p:nvSpPr>
          <p:cNvPr id="16" name="Text 12"/>
          <p:cNvSpPr/>
          <p:nvPr/>
        </p:nvSpPr>
        <p:spPr>
          <a:xfrm>
            <a:off x="812765" y="6238280"/>
            <a:ext cx="7848582"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NTN ISAC in GNU Radio · GRCon 2026</a:t>
            </a:r>
            <a:endParaRPr lang="en-US" sz="1200" dirty="0"/>
          </a:p>
        </p:txBody>
      </p:sp>
      <p:sp>
        <p:nvSpPr>
          <p:cNvPr id="17" name="Text 13"/>
          <p:cNvSpPr/>
          <p:nvPr/>
        </p:nvSpPr>
        <p:spPr>
          <a:xfrm>
            <a:off x="10058426" y="6238280"/>
            <a:ext cx="1320782"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34" charset="0"/>
                <a:ea typeface="JetBrains Mono" pitchFamily="34" charset="-122"/>
                <a:cs typeface="JetBrains Mono"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66"/>
            <a:ext cx="10883436"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LONG DWELLS</a:t>
            </a:r>
            <a:endParaRPr lang="en-US" sz="1200" dirty="0"/>
          </a:p>
        </p:txBody>
      </p:sp>
      <p:sp>
        <p:nvSpPr>
          <p:cNvPr id="3" name="Text 1"/>
          <p:cNvSpPr/>
          <p:nvPr/>
        </p:nvSpPr>
        <p:spPr>
          <a:xfrm>
            <a:off x="812765" y="1071807"/>
            <a:ext cx="10883436" cy="416543"/>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72030"/>
                </a:solidFill>
                <a:latin typeface="IBM Plex Sans" pitchFamily="34" charset="0"/>
                <a:ea typeface="IBM Plex Sans" pitchFamily="34" charset="-122"/>
                <a:cs typeface="IBM Plex Sans" pitchFamily="34" charset="-120"/>
              </a:rPr>
              <a:t>Over a 100 ms dwell, the echo walks ten cells</a:t>
            </a:r>
            <a:endParaRPr lang="en-US" sz="2800" dirty="0"/>
          </a:p>
        </p:txBody>
      </p:sp>
      <p:pic>
        <p:nvPicPr>
          <p:cNvPr id="4" name="Image 0" descr="Delay walk against integration time, and measured gain from correcting it: +0.6 dB at 20 ms, +4.3 dB at 100 ms"/>
          <p:cNvPicPr>
            <a:picLocks noChangeAspect="1"/>
          </p:cNvPicPr>
          <p:nvPr/>
        </p:nvPicPr>
        <p:blipFill>
          <a:blip r:embed="rId3"/>
          <a:srcRect l="-197" r="-197"/>
          <a:stretch/>
        </p:blipFill>
        <p:spPr>
          <a:xfrm>
            <a:off x="819115" y="1697862"/>
            <a:ext cx="6972269" cy="2457432"/>
          </a:xfrm>
          <a:prstGeom prst="roundRect">
            <a:avLst>
              <a:gd name="adj" fmla="val 2842"/>
            </a:avLst>
          </a:prstGeom>
        </p:spPr>
      </p:pic>
      <p:sp>
        <p:nvSpPr>
          <p:cNvPr id="5" name="Shape 2"/>
          <p:cNvSpPr/>
          <p:nvPr/>
        </p:nvSpPr>
        <p:spPr>
          <a:xfrm>
            <a:off x="815940" y="1694687"/>
            <a:ext cx="6978619" cy="2463782"/>
          </a:xfrm>
          <a:prstGeom prst="roundRect">
            <a:avLst>
              <a:gd name="adj" fmla="val 2964"/>
            </a:avLst>
          </a:prstGeom>
          <a:noFill/>
          <a:ln w="6350">
            <a:solidFill>
              <a:srgbClr val="E2E0D9"/>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765" y="4314034"/>
          <a:ext cx="6984968" cy="1326184"/>
        </p:xfrm>
        <a:graphic>
          <a:graphicData uri="http://schemas.openxmlformats.org/drawingml/2006/table">
            <a:tbl>
              <a:tblPr/>
              <a:tblGrid>
                <a:gridCol w="3492484">
                  <a:extLst>
                    <a:ext uri="{9D8B030D-6E8A-4147-A177-3AD203B41FA5}">
                      <a16:colId xmlns:a16="http://schemas.microsoft.com/office/drawing/2014/main" val="20000"/>
                    </a:ext>
                  </a:extLst>
                </a:gridCol>
                <a:gridCol w="1955791">
                  <a:extLst>
                    <a:ext uri="{9D8B030D-6E8A-4147-A177-3AD203B41FA5}">
                      <a16:colId xmlns:a16="http://schemas.microsoft.com/office/drawing/2014/main" val="20001"/>
                    </a:ext>
                  </a:extLst>
                </a:gridCol>
                <a:gridCol w="1536693">
                  <a:extLst>
                    <a:ext uri="{9D8B030D-6E8A-4147-A177-3AD203B41FA5}">
                      <a16:colId xmlns:a16="http://schemas.microsoft.com/office/drawing/2014/main" val="20002"/>
                    </a:ext>
                  </a:extLst>
                </a:gridCol>
              </a:tblGrid>
              <a:tr h="331546">
                <a:tc>
                  <a:txBody>
                    <a:bodyPr/>
                    <a:lstStyle/>
                    <a:p>
                      <a:pPr marL="0" indent="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Interval</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tc>
                  <a:txBody>
                    <a:bodyPr/>
                    <a:lstStyle/>
                    <a:p>
                      <a:pPr marL="0" indent="0" algn="r">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Delay walk</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tc>
                  <a:txBody>
                    <a:bodyPr/>
                    <a:lstStyle/>
                    <a:p>
                      <a:pPr marL="0" indent="0" algn="r">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Delay cells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extLst>
                  <a:ext uri="{0D108BD9-81ED-4DB2-BD59-A6C34878D82A}">
                    <a16:rowId xmlns:a16="http://schemas.microsoft.com/office/drawing/2014/main" val="10000"/>
                  </a:ext>
                </a:extLst>
              </a:tr>
              <a:tr h="331546">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one OFDM symbol, 71.35 µs</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0.012 samples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0.01</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1546">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one slot, 1 ms</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0.17 samples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0.10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extLst>
                  <a:ext uri="{0D108BD9-81ED-4DB2-BD59-A6C34878D82A}">
                    <a16:rowId xmlns:a16="http://schemas.microsoft.com/office/drawing/2014/main" val="10002"/>
                  </a:ext>
                </a:extLst>
              </a:tr>
              <a:tr h="331546">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one 100 ms sensing dwell</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17 samples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9.9</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3"/>
          <p:cNvSpPr/>
          <p:nvPr/>
        </p:nvSpPr>
        <p:spPr>
          <a:xfrm>
            <a:off x="8054878" y="1694687"/>
            <a:ext cx="3321154" cy="1066860"/>
          </a:xfrm>
          <a:prstGeom prst="roundRect">
            <a:avLst>
              <a:gd name="adj" fmla="val 8035"/>
            </a:avLst>
          </a:prstGeom>
          <a:solidFill>
            <a:srgbClr val="FFFFFF"/>
          </a:solidFill>
          <a:ln w="6350">
            <a:solidFill>
              <a:srgbClr val="E2E0D9"/>
            </a:solidFill>
            <a:prstDash val="solid"/>
          </a:ln>
        </p:spPr>
        <p:txBody>
          <a:bodyPr/>
          <a:lstStyle/>
          <a:p>
            <a:endParaRPr lang="en-US"/>
          </a:p>
        </p:txBody>
      </p:sp>
      <p:sp>
        <p:nvSpPr>
          <p:cNvPr id="8" name="Text 4"/>
          <p:cNvSpPr/>
          <p:nvPr/>
        </p:nvSpPr>
        <p:spPr>
          <a:xfrm>
            <a:off x="8235297" y="1849701"/>
            <a:ext cx="3049127" cy="304775"/>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B34E1B"/>
                </a:solidFill>
                <a:latin typeface="JetBrains Mono" pitchFamily="34" charset="0"/>
                <a:ea typeface="JetBrains Mono" pitchFamily="34" charset="-122"/>
                <a:cs typeface="JetBrains Mono" pitchFamily="34" charset="-120"/>
              </a:rPr>
              <a:t>170 sa/s</a:t>
            </a:r>
            <a:endParaRPr lang="en-US" sz="2000" dirty="0"/>
          </a:p>
        </p:txBody>
      </p:sp>
      <p:sp>
        <p:nvSpPr>
          <p:cNvPr id="9" name="Text 5"/>
          <p:cNvSpPr/>
          <p:nvPr/>
        </p:nvSpPr>
        <p:spPr>
          <a:xfrm>
            <a:off x="8235297" y="2179842"/>
            <a:ext cx="3049127"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delay drift at a 6.636 km/s range rate, sampled at 7.68 MS/s</a:t>
            </a:r>
            <a:endParaRPr lang="en-US" sz="1200" dirty="0"/>
          </a:p>
        </p:txBody>
      </p:sp>
      <p:sp>
        <p:nvSpPr>
          <p:cNvPr id="10" name="Shape 6"/>
          <p:cNvSpPr/>
          <p:nvPr/>
        </p:nvSpPr>
        <p:spPr>
          <a:xfrm>
            <a:off x="8054878" y="2894884"/>
            <a:ext cx="3321154" cy="1066860"/>
          </a:xfrm>
          <a:prstGeom prst="roundRect">
            <a:avLst>
              <a:gd name="adj" fmla="val 8035"/>
            </a:avLst>
          </a:prstGeom>
          <a:solidFill>
            <a:srgbClr val="FFFFFF"/>
          </a:solidFill>
          <a:ln w="6350">
            <a:solidFill>
              <a:srgbClr val="E2E0D9"/>
            </a:solidFill>
            <a:prstDash val="solid"/>
          </a:ln>
        </p:spPr>
        <p:txBody>
          <a:bodyPr/>
          <a:lstStyle/>
          <a:p>
            <a:endParaRPr lang="en-US"/>
          </a:p>
        </p:txBody>
      </p:sp>
      <p:sp>
        <p:nvSpPr>
          <p:cNvPr id="11" name="Text 7"/>
          <p:cNvSpPr/>
          <p:nvPr/>
        </p:nvSpPr>
        <p:spPr>
          <a:xfrm>
            <a:off x="8235297" y="3049894"/>
            <a:ext cx="3049127" cy="304775"/>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B34E1B"/>
                </a:solidFill>
                <a:latin typeface="JetBrains Mono" pitchFamily="34" charset="0"/>
                <a:ea typeface="JetBrains Mono" pitchFamily="34" charset="-122"/>
                <a:cs typeface="JetBrains Mono" pitchFamily="34" charset="-120"/>
              </a:rPr>
              <a:t>≈ 10 cells</a:t>
            </a:r>
            <a:endParaRPr lang="en-US" sz="2000" dirty="0"/>
          </a:p>
        </p:txBody>
      </p:sp>
      <p:sp>
        <p:nvSpPr>
          <p:cNvPr id="12" name="Text 8"/>
          <p:cNvSpPr/>
          <p:nvPr/>
        </p:nvSpPr>
        <p:spPr>
          <a:xfrm>
            <a:off x="8235297" y="3380039"/>
            <a:ext cx="3049127"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walk across one 100 ms dwell: the peak smears instead of stacking</a:t>
            </a:r>
            <a:endParaRPr lang="en-US" sz="1200" dirty="0"/>
          </a:p>
        </p:txBody>
      </p:sp>
      <p:sp>
        <p:nvSpPr>
          <p:cNvPr id="13" name="Shape 9"/>
          <p:cNvSpPr/>
          <p:nvPr/>
        </p:nvSpPr>
        <p:spPr>
          <a:xfrm>
            <a:off x="8054878" y="4095077"/>
            <a:ext cx="3321154" cy="1066860"/>
          </a:xfrm>
          <a:prstGeom prst="roundRect">
            <a:avLst>
              <a:gd name="adj" fmla="val 8035"/>
            </a:avLst>
          </a:prstGeom>
          <a:solidFill>
            <a:srgbClr val="FFFFFF"/>
          </a:solidFill>
          <a:ln w="6350">
            <a:solidFill>
              <a:srgbClr val="E2E0D9"/>
            </a:solidFill>
            <a:prstDash val="solid"/>
          </a:ln>
        </p:spPr>
        <p:txBody>
          <a:bodyPr/>
          <a:lstStyle/>
          <a:p>
            <a:endParaRPr lang="en-US"/>
          </a:p>
        </p:txBody>
      </p:sp>
      <p:sp>
        <p:nvSpPr>
          <p:cNvPr id="14" name="Text 10"/>
          <p:cNvSpPr/>
          <p:nvPr/>
        </p:nvSpPr>
        <p:spPr>
          <a:xfrm>
            <a:off x="8235297" y="4250088"/>
            <a:ext cx="3049127" cy="304775"/>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B34E1B"/>
                </a:solidFill>
                <a:latin typeface="JetBrains Mono" pitchFamily="34" charset="0"/>
                <a:ea typeface="JetBrains Mono" pitchFamily="34" charset="-122"/>
                <a:cs typeface="JetBrains Mono" pitchFamily="34" charset="-120"/>
              </a:rPr>
              <a:t>+4.3 dB</a:t>
            </a:r>
            <a:endParaRPr lang="en-US" sz="2000" dirty="0"/>
          </a:p>
        </p:txBody>
      </p:sp>
      <p:sp>
        <p:nvSpPr>
          <p:cNvPr id="15" name="Text 11"/>
          <p:cNvSpPr/>
          <p:nvPr/>
        </p:nvSpPr>
        <p:spPr>
          <a:xfrm>
            <a:off x="8235297" y="4580232"/>
            <a:ext cx="3049127"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back from a per-subcarrier phase slope, no resampling</a:t>
            </a:r>
            <a:endParaRPr lang="en-US" sz="1200" dirty="0"/>
          </a:p>
        </p:txBody>
      </p:sp>
      <p:sp>
        <p:nvSpPr>
          <p:cNvPr id="16" name="Text 12"/>
          <p:cNvSpPr/>
          <p:nvPr/>
        </p:nvSpPr>
        <p:spPr>
          <a:xfrm>
            <a:off x="812765" y="6238277"/>
            <a:ext cx="7848582"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NTN ISAC in GNU Radio · GRCon 2026</a:t>
            </a:r>
            <a:endParaRPr lang="en-US" sz="1200" dirty="0"/>
          </a:p>
        </p:txBody>
      </p:sp>
      <p:sp>
        <p:nvSpPr>
          <p:cNvPr id="17" name="Text 13"/>
          <p:cNvSpPr/>
          <p:nvPr/>
        </p:nvSpPr>
        <p:spPr>
          <a:xfrm>
            <a:off x="10058426" y="6238277"/>
            <a:ext cx="1320782"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34" charset="0"/>
                <a:ea typeface="JetBrains Mono" pitchFamily="34" charset="-122"/>
                <a:cs typeface="JetBrains Mono"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LINK BUDGET</a:t>
            </a:r>
            <a:endParaRPr lang="en-US" sz="1200" dirty="0"/>
          </a:p>
        </p:txBody>
      </p:sp>
      <p:sp>
        <p:nvSpPr>
          <p:cNvPr id="3" name="Text 1"/>
          <p:cNvSpPr/>
          <p:nvPr/>
        </p:nvSpPr>
        <p:spPr>
          <a:xfrm>
            <a:off x="812765" y="1071804"/>
            <a:ext cx="10883436" cy="416543"/>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72030"/>
                </a:solidFill>
                <a:latin typeface="IBM Plex Sans" pitchFamily="34" charset="0"/>
                <a:ea typeface="IBM Plex Sans" pitchFamily="34" charset="-122"/>
                <a:cs typeface="IBM Plex Sans" pitchFamily="34" charset="-120"/>
              </a:rPr>
              <a:t>What wider carriers and longer dwells can detect</a:t>
            </a:r>
            <a:endParaRPr lang="en-US" sz="2800" dirty="0"/>
          </a:p>
        </p:txBody>
      </p:sp>
      <p:sp>
        <p:nvSpPr>
          <p:cNvPr id="5" name="Shape 2"/>
          <p:cNvSpPr/>
          <p:nvPr/>
        </p:nvSpPr>
        <p:spPr>
          <a:xfrm>
            <a:off x="815940" y="1694687"/>
            <a:ext cx="6457910" cy="3803641"/>
          </a:xfrm>
          <a:prstGeom prst="roundRect">
            <a:avLst>
              <a:gd name="adj" fmla="val 1920"/>
            </a:avLst>
          </a:prstGeom>
          <a:noFill/>
          <a:ln w="6350">
            <a:solidFill>
              <a:srgbClr val="E2E0D9"/>
            </a:solidFill>
            <a:prstDash val="solid"/>
          </a:ln>
        </p:spPr>
        <p:txBody>
          <a:bodyPr/>
          <a:lstStyle/>
          <a:p>
            <a:endParaRPr lang="en-US"/>
          </a:p>
        </p:txBody>
      </p:sp>
      <p:sp>
        <p:nvSpPr>
          <p:cNvPr id="13" name="Text 10"/>
          <p:cNvSpPr/>
          <p:nvPr/>
        </p:nvSpPr>
        <p:spPr>
          <a:xfrm>
            <a:off x="812765" y="6238273"/>
            <a:ext cx="7848582"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NTN ISAC in GNU Radio · GRCon 2026</a:t>
            </a:r>
            <a:endParaRPr lang="en-US" sz="1200" dirty="0"/>
          </a:p>
        </p:txBody>
      </p:sp>
      <p:sp>
        <p:nvSpPr>
          <p:cNvPr id="14" name="Text 11"/>
          <p:cNvSpPr/>
          <p:nvPr/>
        </p:nvSpPr>
        <p:spPr>
          <a:xfrm>
            <a:off x="10058426" y="6238273"/>
            <a:ext cx="1320782"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34" charset="0"/>
                <a:ea typeface="JetBrains Mono" pitchFamily="34" charset="-122"/>
                <a:cs typeface="JetBrains Mono" pitchFamily="34" charset="-120"/>
              </a:rPr>
              <a:t>10</a:t>
            </a:r>
            <a:endParaRPr lang="en-US" sz="1200" dirty="0"/>
          </a:p>
        </p:txBody>
      </p:sp>
      <p:pic>
        <p:nvPicPr>
          <p:cNvPr id="15" name="Image 0" descr="Echo-to-direct ratio against receiver-to-target range for four radar cross-sections">
            <a:extLst>
              <a:ext uri="{FF2B5EF4-FFF2-40B4-BE49-F238E27FC236}">
                <a16:creationId xmlns:a16="http://schemas.microsoft.com/office/drawing/2014/main" id="{850DFF46-DA05-754B-A1D4-17CB81E7ED86}"/>
              </a:ext>
            </a:extLst>
          </p:cNvPr>
          <p:cNvPicPr>
            <a:picLocks noChangeAspect="1"/>
          </p:cNvPicPr>
          <p:nvPr/>
        </p:nvPicPr>
        <p:blipFill>
          <a:blip r:embed="rId3"/>
          <a:srcRect l="-41" r="-41"/>
          <a:stretch/>
        </p:blipFill>
        <p:spPr>
          <a:xfrm>
            <a:off x="384612" y="1697862"/>
            <a:ext cx="5454872" cy="3800466"/>
          </a:xfrm>
          <a:prstGeom prst="roundRect">
            <a:avLst>
              <a:gd name="adj" fmla="val 2124"/>
            </a:avLst>
          </a:prstGeom>
        </p:spPr>
      </p:pic>
      <p:graphicFrame>
        <p:nvGraphicFramePr>
          <p:cNvPr id="16" name="Table 0">
            <a:extLst>
              <a:ext uri="{FF2B5EF4-FFF2-40B4-BE49-F238E27FC236}">
                <a16:creationId xmlns:a16="http://schemas.microsoft.com/office/drawing/2014/main" id="{F7CD9E6F-9078-57B7-C3E3-E0F82ED90AE5}"/>
              </a:ext>
            </a:extLst>
          </p:cNvPr>
          <p:cNvGraphicFramePr>
            <a:graphicFrameLocks noGrp="1"/>
          </p:cNvGraphicFramePr>
          <p:nvPr>
            <p:extLst>
              <p:ext uri="{D42A27DB-BD31-4B8C-83A1-F6EECF244321}">
                <p14:modId xmlns:p14="http://schemas.microsoft.com/office/powerpoint/2010/main" val="4267458061"/>
              </p:ext>
            </p:extLst>
          </p:nvPr>
        </p:nvGraphicFramePr>
        <p:xfrm>
          <a:off x="6083216" y="1889469"/>
          <a:ext cx="5454872" cy="1539531"/>
        </p:xfrm>
        <a:graphic>
          <a:graphicData uri="http://schemas.openxmlformats.org/drawingml/2006/table">
            <a:tbl>
              <a:tblPr/>
              <a:tblGrid>
                <a:gridCol w="2400144">
                  <a:extLst>
                    <a:ext uri="{9D8B030D-6E8A-4147-A177-3AD203B41FA5}">
                      <a16:colId xmlns:a16="http://schemas.microsoft.com/office/drawing/2014/main" val="20000"/>
                    </a:ext>
                  </a:extLst>
                </a:gridCol>
                <a:gridCol w="1200072">
                  <a:extLst>
                    <a:ext uri="{9D8B030D-6E8A-4147-A177-3AD203B41FA5}">
                      <a16:colId xmlns:a16="http://schemas.microsoft.com/office/drawing/2014/main" val="20001"/>
                    </a:ext>
                  </a:extLst>
                </a:gridCol>
                <a:gridCol w="1854656">
                  <a:extLst>
                    <a:ext uri="{9D8B030D-6E8A-4147-A177-3AD203B41FA5}">
                      <a16:colId xmlns:a16="http://schemas.microsoft.com/office/drawing/2014/main" val="20002"/>
                    </a:ext>
                  </a:extLst>
                </a:gridCol>
              </a:tblGrid>
              <a:tr h="331546">
                <a:tc>
                  <a:txBody>
                    <a:bodyPr/>
                    <a:lstStyle/>
                    <a:p>
                      <a:pPr marL="0" indent="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Target</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tc>
                  <a:txBody>
                    <a:bodyPr/>
                    <a:lstStyle/>
                    <a:p>
                      <a:pPr marL="0" indent="0" algn="r">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Echo / direct</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tc>
                  <a:txBody>
                    <a:bodyPr/>
                    <a:lstStyle/>
                    <a:p>
                      <a:pPr marL="0" indent="0" algn="r">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Measured margin</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extLst>
                  <a:ext uri="{0D108BD9-81ED-4DB2-BD59-A6C34878D82A}">
                    <a16:rowId xmlns:a16="http://schemas.microsoft.com/office/drawing/2014/main" val="10000"/>
                  </a:ext>
                </a:extLst>
              </a:tr>
              <a:tr h="331546">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Vehicle, 10 m² at 1 km</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−61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−12.5 to −5.3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1546">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Vessel, 1000 m² at 5 km</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−55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−5.6 to −1.4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extLst>
                  <a:ext uri="{0D108BD9-81ED-4DB2-BD59-A6C34878D82A}">
                    <a16:rowId xmlns:a16="http://schemas.microsoft.com/office/drawing/2014/main" val="10002"/>
                  </a:ext>
                </a:extLst>
              </a:tr>
              <a:tr h="544893">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Large vessel, 1000 m² at 0.5 km (passes)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−35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+11.2 to +11.9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7" name="Text 6">
            <a:extLst>
              <a:ext uri="{FF2B5EF4-FFF2-40B4-BE49-F238E27FC236}">
                <a16:creationId xmlns:a16="http://schemas.microsoft.com/office/drawing/2014/main" id="{A79A6787-D6E6-52F2-8EB4-65996AD0B497}"/>
              </a:ext>
            </a:extLst>
          </p:cNvPr>
          <p:cNvSpPr/>
          <p:nvPr/>
        </p:nvSpPr>
        <p:spPr>
          <a:xfrm>
            <a:off x="6083216" y="3841225"/>
            <a:ext cx="5454872" cy="100469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Only the large vessel clears 10 dB over threshold. </a:t>
            </a:r>
          </a:p>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The Link Budget block answers this for any RCS, range and dwell.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69"/>
            <a:ext cx="10883436"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THE CHANNEL BLOCK</a:t>
            </a:r>
            <a:endParaRPr lang="en-US" sz="1200" dirty="0"/>
          </a:p>
        </p:txBody>
      </p:sp>
      <p:sp>
        <p:nvSpPr>
          <p:cNvPr id="3" name="Text 1"/>
          <p:cNvSpPr/>
          <p:nvPr/>
        </p:nvSpPr>
        <p:spPr>
          <a:xfrm>
            <a:off x="812765" y="1071804"/>
            <a:ext cx="10883436" cy="416543"/>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72030"/>
                </a:solidFill>
                <a:latin typeface="IBM Plex Sans" pitchFamily="34" charset="0"/>
                <a:ea typeface="IBM Plex Sans" pitchFamily="34" charset="-122"/>
                <a:cs typeface="IBM Plex Sans" pitchFamily="34" charset="-120"/>
              </a:rPr>
              <a:t>LEO Channel: a sum of delayed copies</a:t>
            </a:r>
            <a:endParaRPr lang="en-US" sz="2800" dirty="0"/>
          </a:p>
        </p:txBody>
      </p:sp>
      <p:sp>
        <p:nvSpPr>
          <p:cNvPr id="4" name="Shape 2"/>
          <p:cNvSpPr/>
          <p:nvPr/>
        </p:nvSpPr>
        <p:spPr>
          <a:xfrm>
            <a:off x="812765" y="1691512"/>
            <a:ext cx="10566443" cy="711096"/>
          </a:xfrm>
          <a:prstGeom prst="roundRect">
            <a:avLst>
              <a:gd name="adj" fmla="val 12502"/>
            </a:avLst>
          </a:prstGeom>
          <a:solidFill>
            <a:srgbClr val="172030"/>
          </a:solidFill>
          <a:ln/>
        </p:spPr>
        <p:txBody>
          <a:bodyPr/>
          <a:lstStyle/>
          <a:p>
            <a:endParaRPr lang="en-US"/>
          </a:p>
        </p:txBody>
      </p:sp>
      <p:sp>
        <p:nvSpPr>
          <p:cNvPr id="5" name="Text 3"/>
          <p:cNvSpPr/>
          <p:nvPr/>
        </p:nvSpPr>
        <p:spPr>
          <a:xfrm>
            <a:off x="3962518" y="1894669"/>
            <a:ext cx="4394945" cy="330181"/>
          </a:xfrm>
          <a:prstGeom prst="rect">
            <a:avLst/>
          </a:prstGeom>
          <a:noFill/>
          <a:ln/>
        </p:spPr>
        <p:txBody>
          <a:bodyPr wrap="square" lIns="0" tIns="0" rIns="0" bIns="0" rtlCol="0" anchor="t">
            <a:normAutofit/>
          </a:bodyPr>
          <a:lstStyle/>
          <a:p>
            <a:pPr marL="0" indent="0" algn="l">
              <a:lnSpc>
                <a:spcPts val="2400"/>
              </a:lnSpc>
              <a:buNone/>
            </a:pPr>
            <a:r>
              <a:rPr lang="en-US" sz="2000" dirty="0">
                <a:solidFill>
                  <a:srgbClr val="F3F1EC"/>
                </a:solidFill>
                <a:latin typeface="JetBrains Mono" pitchFamily="34" charset="0"/>
                <a:ea typeface="JetBrains Mono" pitchFamily="34" charset="-122"/>
                <a:cs typeface="JetBrains Mono" pitchFamily="34" charset="-120"/>
              </a:rPr>
              <a:t>y(t) = Σ a_p · x(t − τ_p(t))</a:t>
            </a:r>
            <a:endParaRPr lang="en-US" sz="2000" dirty="0"/>
          </a:p>
        </p:txBody>
      </p:sp>
      <p:sp>
        <p:nvSpPr>
          <p:cNvPr id="6" name="Shape 4"/>
          <p:cNvSpPr/>
          <p:nvPr/>
        </p:nvSpPr>
        <p:spPr>
          <a:xfrm>
            <a:off x="815940" y="2634351"/>
            <a:ext cx="2139980" cy="1188727"/>
          </a:xfrm>
          <a:prstGeom prst="roundRect">
            <a:avLst>
              <a:gd name="adj" fmla="val 7211"/>
            </a:avLst>
          </a:prstGeom>
          <a:solidFill>
            <a:srgbClr val="FFFFFF"/>
          </a:solidFill>
          <a:ln w="6350">
            <a:solidFill>
              <a:srgbClr val="E2E0D9"/>
            </a:solidFill>
            <a:prstDash val="solid"/>
          </a:ln>
        </p:spPr>
        <p:txBody>
          <a:bodyPr/>
          <a:lstStyle/>
          <a:p>
            <a:endParaRPr lang="en-US"/>
          </a:p>
        </p:txBody>
      </p:sp>
      <p:sp>
        <p:nvSpPr>
          <p:cNvPr id="7" name="Text 5"/>
          <p:cNvSpPr/>
          <p:nvPr/>
        </p:nvSpPr>
        <p:spPr>
          <a:xfrm>
            <a:off x="970952" y="2776637"/>
            <a:ext cx="1884854" cy="238747"/>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2030"/>
                </a:solidFill>
                <a:latin typeface="JetBrains Mono" pitchFamily="34" charset="0"/>
                <a:ea typeface="JetBrains Mono" pitchFamily="34" charset="-122"/>
                <a:cs typeface="JetBrains Mono" pitchFamily="34" charset="-120"/>
              </a:rPr>
              <a:t>scene.yml</a:t>
            </a:r>
            <a:endParaRPr lang="en-US" sz="1400" dirty="0"/>
          </a:p>
        </p:txBody>
      </p:sp>
      <p:sp>
        <p:nvSpPr>
          <p:cNvPr id="8" name="Text 6"/>
          <p:cNvSpPr/>
          <p:nvPr/>
        </p:nvSpPr>
        <p:spPr>
          <a:xfrm>
            <a:off x="970952" y="3040751"/>
            <a:ext cx="1884854" cy="6654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you describe each path: type, excess path, rate, gain</a:t>
            </a:r>
            <a:endParaRPr lang="en-US" sz="1200" dirty="0"/>
          </a:p>
        </p:txBody>
      </p:sp>
      <p:pic>
        <p:nvPicPr>
          <p:cNvPr id="9" name="Image 0" descr="arrow-right"/>
          <p:cNvPicPr>
            <a:picLocks noChangeAspect="1"/>
          </p:cNvPicPr>
          <p:nvPr/>
        </p:nvPicPr>
        <p:blipFill>
          <a:blip r:embed="rId3"/>
          <a:srcRect l="-5" r="-5"/>
          <a:stretch/>
        </p:blipFill>
        <p:spPr>
          <a:xfrm>
            <a:off x="3060673" y="3114433"/>
            <a:ext cx="457172" cy="228563"/>
          </a:xfrm>
          <a:prstGeom prst="rect">
            <a:avLst/>
          </a:prstGeom>
        </p:spPr>
      </p:pic>
      <p:sp>
        <p:nvSpPr>
          <p:cNvPr id="10" name="Shape 7"/>
          <p:cNvSpPr/>
          <p:nvPr/>
        </p:nvSpPr>
        <p:spPr>
          <a:xfrm>
            <a:off x="3622599" y="2740999"/>
            <a:ext cx="2140025" cy="975381"/>
          </a:xfrm>
          <a:prstGeom prst="roundRect">
            <a:avLst>
              <a:gd name="adj" fmla="val 8789"/>
            </a:avLst>
          </a:prstGeom>
          <a:solidFill>
            <a:srgbClr val="FFFFFF"/>
          </a:solidFill>
          <a:ln w="6350">
            <a:solidFill>
              <a:srgbClr val="E2E0D9"/>
            </a:solidFill>
            <a:prstDash val="solid"/>
          </a:ln>
        </p:spPr>
        <p:txBody>
          <a:bodyPr/>
          <a:lstStyle/>
          <a:p>
            <a:endParaRPr lang="en-US"/>
          </a:p>
        </p:txBody>
      </p:sp>
      <p:sp>
        <p:nvSpPr>
          <p:cNvPr id="11" name="Text 8"/>
          <p:cNvSpPr/>
          <p:nvPr/>
        </p:nvSpPr>
        <p:spPr>
          <a:xfrm>
            <a:off x="3777611" y="2883284"/>
            <a:ext cx="1884901" cy="238747"/>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2030"/>
                </a:solidFill>
                <a:latin typeface="JetBrains Mono" pitchFamily="34" charset="0"/>
                <a:ea typeface="JetBrains Mono" pitchFamily="34" charset="-122"/>
                <a:cs typeface="JetBrains Mono" pitchFamily="34" charset="-120"/>
              </a:rPr>
              <a:t>build_scene.py</a:t>
            </a:r>
            <a:endParaRPr lang="en-US" sz="1400" dirty="0"/>
          </a:p>
        </p:txBody>
      </p:sp>
      <p:sp>
        <p:nvSpPr>
          <p:cNvPr id="12" name="Text 9"/>
          <p:cNvSpPr/>
          <p:nvPr/>
        </p:nvSpPr>
        <p:spPr>
          <a:xfrm>
            <a:off x="3777611" y="3147399"/>
            <a:ext cx="1884901"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compiles the scene with the satellite pass</a:t>
            </a:r>
            <a:endParaRPr lang="en-US" sz="1200" dirty="0"/>
          </a:p>
        </p:txBody>
      </p:sp>
      <p:pic>
        <p:nvPicPr>
          <p:cNvPr id="13" name="Image 1" descr="arrow-right"/>
          <p:cNvPicPr>
            <a:picLocks noChangeAspect="1"/>
          </p:cNvPicPr>
          <p:nvPr/>
        </p:nvPicPr>
        <p:blipFill>
          <a:blip r:embed="rId3"/>
          <a:srcRect l="-5" r="-5"/>
          <a:stretch/>
        </p:blipFill>
        <p:spPr>
          <a:xfrm>
            <a:off x="5867378" y="3114433"/>
            <a:ext cx="457172" cy="228563"/>
          </a:xfrm>
          <a:prstGeom prst="rect">
            <a:avLst/>
          </a:prstGeom>
        </p:spPr>
      </p:pic>
      <p:sp>
        <p:nvSpPr>
          <p:cNvPr id="14" name="Shape 10"/>
          <p:cNvSpPr/>
          <p:nvPr/>
        </p:nvSpPr>
        <p:spPr>
          <a:xfrm>
            <a:off x="6429303" y="2740999"/>
            <a:ext cx="2140025" cy="975381"/>
          </a:xfrm>
          <a:prstGeom prst="roundRect">
            <a:avLst>
              <a:gd name="adj" fmla="val 8789"/>
            </a:avLst>
          </a:prstGeom>
          <a:solidFill>
            <a:srgbClr val="FFFFFF"/>
          </a:solidFill>
          <a:ln w="6350">
            <a:solidFill>
              <a:srgbClr val="E2E0D9"/>
            </a:solidFill>
            <a:prstDash val="solid"/>
          </a:ln>
        </p:spPr>
        <p:txBody>
          <a:bodyPr/>
          <a:lstStyle/>
          <a:p>
            <a:endParaRPr lang="en-US"/>
          </a:p>
        </p:txBody>
      </p:sp>
      <p:sp>
        <p:nvSpPr>
          <p:cNvPr id="15" name="Text 11"/>
          <p:cNvSpPr/>
          <p:nvPr/>
        </p:nvSpPr>
        <p:spPr>
          <a:xfrm>
            <a:off x="6584315" y="2883284"/>
            <a:ext cx="1884901" cy="238747"/>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2030"/>
                </a:solidFill>
                <a:latin typeface="JetBrains Mono" pitchFamily="34" charset="0"/>
                <a:ea typeface="JetBrains Mono" pitchFamily="34" charset="-122"/>
                <a:cs typeface="JetBrains Mono" pitchFamily="34" charset="-120"/>
              </a:rPr>
              <a:t>traj.csv</a:t>
            </a:r>
            <a:endParaRPr lang="en-US" sz="1400" dirty="0"/>
          </a:p>
        </p:txBody>
      </p:sp>
      <p:sp>
        <p:nvSpPr>
          <p:cNvPr id="16" name="Text 12"/>
          <p:cNvSpPr/>
          <p:nvPr/>
        </p:nvSpPr>
        <p:spPr>
          <a:xfrm>
            <a:off x="6584315" y="3147399"/>
            <a:ext cx="1884901"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one range history per path, 1000 samples/s</a:t>
            </a:r>
            <a:endParaRPr lang="en-US" sz="1200" dirty="0"/>
          </a:p>
        </p:txBody>
      </p:sp>
      <p:pic>
        <p:nvPicPr>
          <p:cNvPr id="17" name="Image 2" descr="arrow-right"/>
          <p:cNvPicPr>
            <a:picLocks noChangeAspect="1"/>
          </p:cNvPicPr>
          <p:nvPr/>
        </p:nvPicPr>
        <p:blipFill>
          <a:blip r:embed="rId3"/>
          <a:srcRect l="-5" r="-5"/>
          <a:stretch/>
        </p:blipFill>
        <p:spPr>
          <a:xfrm>
            <a:off x="8674082" y="3114433"/>
            <a:ext cx="457172" cy="228563"/>
          </a:xfrm>
          <a:prstGeom prst="rect">
            <a:avLst/>
          </a:prstGeom>
        </p:spPr>
      </p:pic>
      <p:sp>
        <p:nvSpPr>
          <p:cNvPr id="18" name="Shape 13"/>
          <p:cNvSpPr/>
          <p:nvPr/>
        </p:nvSpPr>
        <p:spPr>
          <a:xfrm>
            <a:off x="9236008" y="2740999"/>
            <a:ext cx="2140025" cy="975381"/>
          </a:xfrm>
          <a:prstGeom prst="roundRect">
            <a:avLst>
              <a:gd name="adj" fmla="val 8789"/>
            </a:avLst>
          </a:prstGeom>
          <a:solidFill>
            <a:srgbClr val="FFFFFF"/>
          </a:solidFill>
          <a:ln w="6350">
            <a:solidFill>
              <a:srgbClr val="E2E0D9"/>
            </a:solidFill>
            <a:prstDash val="solid"/>
          </a:ln>
        </p:spPr>
        <p:txBody>
          <a:bodyPr/>
          <a:lstStyle/>
          <a:p>
            <a:endParaRPr lang="en-US"/>
          </a:p>
        </p:txBody>
      </p:sp>
      <p:sp>
        <p:nvSpPr>
          <p:cNvPr id="19" name="Text 14"/>
          <p:cNvSpPr/>
          <p:nvPr/>
        </p:nvSpPr>
        <p:spPr>
          <a:xfrm>
            <a:off x="9391020" y="2883284"/>
            <a:ext cx="1884901" cy="238747"/>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72030"/>
                </a:solidFill>
                <a:latin typeface="JetBrains Mono" pitchFamily="34" charset="0"/>
                <a:ea typeface="JetBrains Mono" pitchFamily="34" charset="-122"/>
                <a:cs typeface="JetBrains Mono" pitchFamily="34" charset="-120"/>
              </a:rPr>
              <a:t>LEO Channel</a:t>
            </a:r>
            <a:endParaRPr lang="en-US" sz="1400" dirty="0"/>
          </a:p>
        </p:txBody>
      </p:sp>
      <p:sp>
        <p:nvSpPr>
          <p:cNvPr id="20" name="Text 15"/>
          <p:cNvSpPr/>
          <p:nvPr/>
        </p:nvSpPr>
        <p:spPr>
          <a:xfrm>
            <a:off x="9391020" y="3147399"/>
            <a:ext cx="1884901"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C++: delay = range / c, 12 to 22 MS/s</a:t>
            </a:r>
            <a:endParaRPr lang="en-US" sz="1200" dirty="0"/>
          </a:p>
        </p:txBody>
      </p:sp>
      <p:sp>
        <p:nvSpPr>
          <p:cNvPr id="21" name="Shape 16"/>
          <p:cNvSpPr/>
          <p:nvPr/>
        </p:nvSpPr>
        <p:spPr>
          <a:xfrm>
            <a:off x="815940" y="4057991"/>
            <a:ext cx="5149887" cy="1009708"/>
          </a:xfrm>
          <a:prstGeom prst="roundRect">
            <a:avLst>
              <a:gd name="adj" fmla="val 8490"/>
            </a:avLst>
          </a:prstGeom>
          <a:solidFill>
            <a:srgbClr val="FFFFFF"/>
          </a:solidFill>
          <a:ln w="6350">
            <a:solidFill>
              <a:srgbClr val="E2E0D9"/>
            </a:solidFill>
            <a:prstDash val="solid"/>
          </a:ln>
        </p:spPr>
        <p:txBody>
          <a:bodyPr/>
          <a:lstStyle/>
          <a:p>
            <a:endParaRPr lang="en-US"/>
          </a:p>
        </p:txBody>
      </p:sp>
      <p:sp>
        <p:nvSpPr>
          <p:cNvPr id="22" name="Text 17"/>
          <p:cNvSpPr/>
          <p:nvPr/>
        </p:nvSpPr>
        <p:spPr>
          <a:xfrm>
            <a:off x="996358" y="4213002"/>
            <a:ext cx="4932721"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Delay is the only thing injected</a:t>
            </a:r>
            <a:endParaRPr lang="en-US" sz="1400" dirty="0"/>
          </a:p>
        </p:txBody>
      </p:sp>
      <p:sp>
        <p:nvSpPr>
          <p:cNvPr id="23" name="Text 18"/>
          <p:cNvSpPr/>
          <p:nvPr/>
        </p:nvSpPr>
        <p:spPr>
          <a:xfrm>
            <a:off x="996358" y="4485990"/>
            <a:ext cx="4932721"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Doppler falls out of the carrier phase as the delay changes, so delay and Doppler can never disagree.</a:t>
            </a:r>
            <a:endParaRPr lang="en-US" sz="1200" dirty="0"/>
          </a:p>
        </p:txBody>
      </p:sp>
      <p:sp>
        <p:nvSpPr>
          <p:cNvPr id="24" name="Shape 19"/>
          <p:cNvSpPr/>
          <p:nvPr/>
        </p:nvSpPr>
        <p:spPr>
          <a:xfrm>
            <a:off x="6226146" y="4057991"/>
            <a:ext cx="5149887" cy="1009708"/>
          </a:xfrm>
          <a:prstGeom prst="roundRect">
            <a:avLst>
              <a:gd name="adj" fmla="val 8490"/>
            </a:avLst>
          </a:prstGeom>
          <a:solidFill>
            <a:srgbClr val="FFFFFF"/>
          </a:solidFill>
          <a:ln w="6350">
            <a:solidFill>
              <a:srgbClr val="E2E0D9"/>
            </a:solidFill>
            <a:prstDash val="solid"/>
          </a:ln>
        </p:spPr>
        <p:txBody>
          <a:bodyPr/>
          <a:lstStyle/>
          <a:p>
            <a:endParaRPr lang="en-US"/>
          </a:p>
        </p:txBody>
      </p:sp>
      <p:sp>
        <p:nvSpPr>
          <p:cNvPr id="25" name="Text 20"/>
          <p:cNvSpPr/>
          <p:nvPr/>
        </p:nvSpPr>
        <p:spPr>
          <a:xfrm>
            <a:off x="6406564" y="4213002"/>
            <a:ext cx="4932721"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Exact truth</a:t>
            </a:r>
            <a:endParaRPr lang="en-US" sz="1400" dirty="0"/>
          </a:p>
        </p:txBody>
      </p:sp>
      <p:sp>
        <p:nvSpPr>
          <p:cNvPr id="26" name="Text 21"/>
          <p:cNvSpPr/>
          <p:nvPr/>
        </p:nvSpPr>
        <p:spPr>
          <a:xfrm>
            <a:off x="6406564" y="4485990"/>
            <a:ext cx="4932721"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LEO Truth publishes the same paths as messages, so every detection can be scored against them.</a:t>
            </a:r>
            <a:endParaRPr lang="en-US" sz="1200" dirty="0"/>
          </a:p>
        </p:txBody>
      </p:sp>
      <p:sp>
        <p:nvSpPr>
          <p:cNvPr id="27" name="Text 22"/>
          <p:cNvSpPr/>
          <p:nvPr/>
        </p:nvSpPr>
        <p:spPr>
          <a:xfrm>
            <a:off x="812765" y="6238280"/>
            <a:ext cx="7848582"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NTN ISAC in GNU Radio · GRCon 2026</a:t>
            </a:r>
            <a:endParaRPr lang="en-US" sz="1200" dirty="0"/>
          </a:p>
        </p:txBody>
      </p:sp>
      <p:sp>
        <p:nvSpPr>
          <p:cNvPr id="28" name="Text 23"/>
          <p:cNvSpPr/>
          <p:nvPr/>
        </p:nvSpPr>
        <p:spPr>
          <a:xfrm>
            <a:off x="10058426" y="6238280"/>
            <a:ext cx="1320782"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34" charset="0"/>
                <a:ea typeface="JetBrains Mono" pitchFamily="34" charset="-122"/>
                <a:cs typeface="JetBrains Mono" pitchFamily="34" charset="-120"/>
              </a:rPr>
              <a:t>11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08269"/>
          </a:xfrm>
          <a:prstGeom prst="rect">
            <a:avLst/>
          </a:prstGeom>
          <a:noFill/>
          <a:ln/>
        </p:spPr>
        <p:txBody>
          <a:bodyPr wrap="square" lIns="0" tIns="0" rIns="0" bIns="0" rtlCol="0" anchor="t">
            <a:noAutofit/>
          </a:bodyPr>
          <a:lstStyle/>
          <a:p>
            <a:pPr marL="0" indent="0" algn="l">
              <a:lnSpc>
                <a:spcPts val="1440"/>
              </a:lnSpc>
              <a:buNone/>
            </a:pPr>
            <a:r>
              <a:rPr lang="en-US" sz="1400" b="1" kern="0" spc="150" dirty="0">
                <a:solidFill>
                  <a:srgbClr val="B34E1B"/>
                </a:solidFill>
                <a:latin typeface="IBM Plex Sans" pitchFamily="34" charset="0"/>
                <a:ea typeface="IBM Plex Sans" pitchFamily="34" charset="-122"/>
                <a:cs typeface="IBM Plex Sans" pitchFamily="34" charset="-120"/>
              </a:rPr>
              <a:t>THE CHANNEL BLOCK</a:t>
            </a:r>
            <a:endParaRPr lang="en-US" sz="1400" dirty="0"/>
          </a:p>
        </p:txBody>
      </p:sp>
      <p:sp>
        <p:nvSpPr>
          <p:cNvPr id="3" name="Text 1"/>
          <p:cNvSpPr/>
          <p:nvPr/>
        </p:nvSpPr>
        <p:spPr>
          <a:xfrm>
            <a:off x="812765" y="1071804"/>
            <a:ext cx="10883436" cy="416543"/>
          </a:xfrm>
          <a:prstGeom prst="rect">
            <a:avLst/>
          </a:prstGeom>
          <a:noFill/>
          <a:ln/>
        </p:spPr>
        <p:txBody>
          <a:bodyPr wrap="square" lIns="0" tIns="0" rIns="0" bIns="0" rtlCol="0" anchor="t">
            <a:normAutofit/>
          </a:bodyPr>
          <a:lstStyle/>
          <a:p>
            <a:pPr marL="0" indent="0" algn="l">
              <a:lnSpc>
                <a:spcPts val="3080"/>
              </a:lnSpc>
              <a:buNone/>
            </a:pPr>
            <a:r>
              <a:rPr lang="en-US" sz="1400" b="1" dirty="0">
                <a:solidFill>
                  <a:srgbClr val="172030"/>
                </a:solidFill>
                <a:latin typeface="IBM Plex Sans" pitchFamily="34" charset="0"/>
                <a:ea typeface="IBM Plex Sans" pitchFamily="34" charset="-122"/>
                <a:cs typeface="IBM Plex Sans" pitchFamily="34" charset="-120"/>
              </a:rPr>
              <a:t>Defining clutter, a drone and a blade in YAML</a:t>
            </a:r>
            <a:endParaRPr lang="en-US" sz="1400" dirty="0"/>
          </a:p>
        </p:txBody>
      </p:sp>
      <p:sp>
        <p:nvSpPr>
          <p:cNvPr id="4" name="Shape 2"/>
          <p:cNvSpPr/>
          <p:nvPr/>
        </p:nvSpPr>
        <p:spPr>
          <a:xfrm>
            <a:off x="812765" y="1691511"/>
            <a:ext cx="3809991" cy="4353725"/>
          </a:xfrm>
          <a:prstGeom prst="roundRect">
            <a:avLst>
              <a:gd name="adj" fmla="val 2333"/>
            </a:avLst>
          </a:prstGeom>
          <a:solidFill>
            <a:srgbClr val="172030"/>
          </a:solidFill>
          <a:ln/>
        </p:spPr>
        <p:txBody>
          <a:bodyPr/>
          <a:lstStyle/>
          <a:p>
            <a:endParaRPr lang="en-US" sz="1400"/>
          </a:p>
        </p:txBody>
      </p:sp>
      <p:sp>
        <p:nvSpPr>
          <p:cNvPr id="5" name="Text 3"/>
          <p:cNvSpPr/>
          <p:nvPr/>
        </p:nvSpPr>
        <p:spPr>
          <a:xfrm>
            <a:off x="1015922" y="1843900"/>
            <a:ext cx="3505787" cy="3590932"/>
          </a:xfrm>
          <a:prstGeom prst="rect">
            <a:avLst/>
          </a:prstGeom>
          <a:noFill/>
          <a:ln/>
        </p:spPr>
        <p:txBody>
          <a:bodyPr wrap="square" lIns="0" tIns="0" rIns="0" bIns="0" rtlCol="0" anchor="t">
            <a:noAutofit/>
          </a:bodyPr>
          <a:lstStyle/>
          <a:p>
            <a:pPr marL="0" indent="0" algn="l">
              <a:lnSpc>
                <a:spcPts val="1560"/>
              </a:lnSpc>
              <a:buNone/>
            </a:pPr>
            <a:r>
              <a:rPr lang="en-US" sz="1400" dirty="0">
                <a:solidFill>
                  <a:srgbClr val="E8ECF2"/>
                </a:solidFill>
                <a:latin typeface="JetBrains Mono" pitchFamily="34" charset="0"/>
                <a:ea typeface="JetBrains Mono" pitchFamily="34" charset="-122"/>
                <a:cs typeface="JetBrains Mono" pitchFamily="34" charset="-120"/>
              </a:rPr>
              <a:t>paths:</a:t>
            </a:r>
            <a:endParaRPr lang="en-US" sz="1400" dirty="0"/>
          </a:p>
          <a:p>
            <a:pPr marL="0" indent="0" algn="l">
              <a:lnSpc>
                <a:spcPts val="1560"/>
              </a:lnSpc>
              <a:buNone/>
            </a:pPr>
            <a:r>
              <a:rPr lang="en-US" sz="1400" dirty="0">
                <a:solidFill>
                  <a:srgbClr val="E8ECF2"/>
                </a:solidFill>
                <a:latin typeface="JetBrains Mono" pitchFamily="34" charset="0"/>
                <a:ea typeface="JetBrains Mono" pitchFamily="34" charset="-122"/>
                <a:cs typeface="JetBrains Mono" pitchFamily="34" charset="-120"/>
              </a:rPr>
              <a:t>  - type: direct</a:t>
            </a:r>
            <a:endParaRPr lang="en-US" sz="1400" dirty="0"/>
          </a:p>
          <a:p>
            <a:pPr marL="0" indent="0" algn="l">
              <a:lnSpc>
                <a:spcPts val="1560"/>
              </a:lnSpc>
              <a:buNone/>
            </a:pPr>
            <a:r>
              <a:rPr lang="en-US" sz="1400" dirty="0">
                <a:solidFill>
                  <a:srgbClr val="E8ECF2"/>
                </a:solidFill>
                <a:latin typeface="JetBrains Mono" pitchFamily="34" charset="0"/>
                <a:ea typeface="JetBrains Mono" pitchFamily="34" charset="-122"/>
                <a:cs typeface="JetBrains Mono" pitchFamily="34" charset="-120"/>
              </a:rPr>
              <a:t>    name: satellite</a:t>
            </a:r>
            <a:endParaRPr lang="en-US" sz="1400" dirty="0"/>
          </a:p>
          <a:p>
            <a:pPr marL="0" indent="0" algn="l">
              <a:lnSpc>
                <a:spcPts val="1560"/>
              </a:lnSpc>
              <a:buNone/>
            </a:pPr>
            <a:r>
              <a:rPr lang="en-US" sz="1400" dirty="0">
                <a:solidFill>
                  <a:srgbClr val="E8ECF2"/>
                </a:solidFill>
                <a:latin typeface="JetBrains Mono" pitchFamily="34" charset="0"/>
                <a:ea typeface="JetBrains Mono" pitchFamily="34" charset="-122"/>
                <a:cs typeface="JetBrains Mono" pitchFamily="34" charset="-120"/>
              </a:rPr>
              <a:t>  - type: static</a:t>
            </a:r>
            <a:endParaRPr lang="en-US" sz="1400" dirty="0"/>
          </a:p>
          <a:p>
            <a:pPr marL="0" indent="0" algn="l">
              <a:lnSpc>
                <a:spcPts val="1560"/>
              </a:lnSpc>
              <a:buNone/>
            </a:pPr>
            <a:r>
              <a:rPr lang="en-US" sz="1400" dirty="0">
                <a:solidFill>
                  <a:srgbClr val="E8ECF2"/>
                </a:solidFill>
                <a:latin typeface="JetBrains Mono" pitchFamily="34" charset="0"/>
                <a:ea typeface="JetBrains Mono" pitchFamily="34" charset="-122"/>
                <a:cs typeface="JetBrains Mono" pitchFamily="34" charset="-120"/>
              </a:rPr>
              <a:t>    name: clutter</a:t>
            </a:r>
            <a:endParaRPr lang="en-US" sz="1400" dirty="0"/>
          </a:p>
          <a:p>
            <a:pPr marL="0" indent="0" algn="l">
              <a:lnSpc>
                <a:spcPts val="1560"/>
              </a:lnSpc>
              <a:buNone/>
            </a:pPr>
            <a:r>
              <a:rPr lang="en-US" sz="1400" dirty="0">
                <a:solidFill>
                  <a:srgbClr val="E8ECF2"/>
                </a:solidFill>
                <a:latin typeface="JetBrains Mono" pitchFamily="34" charset="0"/>
                <a:ea typeface="JetBrains Mono" pitchFamily="34" charset="-122"/>
                <a:cs typeface="JetBrains Mono" pitchFamily="34" charset="-120"/>
              </a:rPr>
              <a:t>    excess_m: 250</a:t>
            </a:r>
            <a:endParaRPr lang="en-US" sz="1400" dirty="0"/>
          </a:p>
          <a:p>
            <a:pPr marL="0" indent="0" algn="l">
              <a:lnSpc>
                <a:spcPts val="1560"/>
              </a:lnSpc>
              <a:buNone/>
            </a:pPr>
            <a:r>
              <a:rPr lang="en-US" sz="1400" dirty="0">
                <a:solidFill>
                  <a:srgbClr val="E8ECF2"/>
                </a:solidFill>
                <a:latin typeface="JetBrains Mono" pitchFamily="34" charset="0"/>
                <a:ea typeface="JetBrains Mono" pitchFamily="34" charset="-122"/>
                <a:cs typeface="JetBrains Mono" pitchFamily="34" charset="-120"/>
              </a:rPr>
              <a:t>    gain_db: -20</a:t>
            </a:r>
            <a:endParaRPr lang="en-US" sz="1400" dirty="0"/>
          </a:p>
          <a:p>
            <a:pPr marL="0" indent="0" algn="l">
              <a:lnSpc>
                <a:spcPts val="1560"/>
              </a:lnSpc>
              <a:buNone/>
            </a:pPr>
            <a:r>
              <a:rPr lang="en-US" sz="1400" dirty="0">
                <a:solidFill>
                  <a:srgbClr val="E8ECF2"/>
                </a:solidFill>
                <a:latin typeface="JetBrains Mono" pitchFamily="34" charset="0"/>
                <a:ea typeface="JetBrains Mono" pitchFamily="34" charset="-122"/>
                <a:cs typeface="JetBrains Mono" pitchFamily="34" charset="-120"/>
              </a:rPr>
              <a:t>  - type: linear</a:t>
            </a:r>
            <a:endParaRPr lang="en-US" sz="1400" dirty="0"/>
          </a:p>
          <a:p>
            <a:pPr marL="0" indent="0" algn="l">
              <a:lnSpc>
                <a:spcPts val="1560"/>
              </a:lnSpc>
              <a:buNone/>
            </a:pPr>
            <a:r>
              <a:rPr lang="en-US" sz="1400" dirty="0">
                <a:solidFill>
                  <a:srgbClr val="E8ECF2"/>
                </a:solidFill>
                <a:latin typeface="JetBrains Mono" pitchFamily="34" charset="0"/>
                <a:ea typeface="JetBrains Mono" pitchFamily="34" charset="-122"/>
                <a:cs typeface="JetBrains Mono" pitchFamily="34" charset="-120"/>
              </a:rPr>
              <a:t>    name: drone</a:t>
            </a:r>
            <a:endParaRPr lang="en-US" sz="1400" dirty="0"/>
          </a:p>
          <a:p>
            <a:pPr marL="0" indent="0" algn="l">
              <a:lnSpc>
                <a:spcPts val="1560"/>
              </a:lnSpc>
              <a:buNone/>
            </a:pPr>
            <a:r>
              <a:rPr lang="en-US" sz="1400" dirty="0">
                <a:solidFill>
                  <a:srgbClr val="E8ECF2"/>
                </a:solidFill>
                <a:latin typeface="JetBrains Mono" pitchFamily="34" charset="0"/>
                <a:ea typeface="JetBrains Mono" pitchFamily="34" charset="-122"/>
                <a:cs typeface="JetBrains Mono" pitchFamily="34" charset="-120"/>
              </a:rPr>
              <a:t>    excess_m: 640</a:t>
            </a:r>
            <a:endParaRPr lang="en-US" sz="1400" dirty="0"/>
          </a:p>
          <a:p>
            <a:pPr marL="0" indent="0" algn="l">
              <a:lnSpc>
                <a:spcPts val="1560"/>
              </a:lnSpc>
              <a:buNone/>
            </a:pPr>
            <a:r>
              <a:rPr lang="en-US" sz="1400" dirty="0">
                <a:solidFill>
                  <a:srgbClr val="E8ECF2"/>
                </a:solidFill>
                <a:latin typeface="JetBrains Mono" pitchFamily="34" charset="0"/>
                <a:ea typeface="JetBrains Mono" pitchFamily="34" charset="-122"/>
                <a:cs typeface="JetBrains Mono" pitchFamily="34" charset="-120"/>
              </a:rPr>
              <a:t>    excess_rate_mps: 4.7  # -38.8 Hz</a:t>
            </a:r>
            <a:endParaRPr lang="en-US" sz="1400" dirty="0"/>
          </a:p>
          <a:p>
            <a:pPr marL="0" indent="0" algn="l">
              <a:lnSpc>
                <a:spcPts val="1560"/>
              </a:lnSpc>
              <a:buNone/>
            </a:pPr>
            <a:r>
              <a:rPr lang="en-US" sz="1400" dirty="0">
                <a:solidFill>
                  <a:srgbClr val="E8ECF2"/>
                </a:solidFill>
                <a:latin typeface="JetBrains Mono" pitchFamily="34" charset="0"/>
                <a:ea typeface="JetBrains Mono" pitchFamily="34" charset="-122"/>
                <a:cs typeface="JetBrains Mono" pitchFamily="34" charset="-120"/>
              </a:rPr>
              <a:t>    gain_db: -25</a:t>
            </a:r>
            <a:endParaRPr lang="en-US" sz="1400" dirty="0"/>
          </a:p>
          <a:p>
            <a:pPr marL="0" indent="0" algn="l">
              <a:lnSpc>
                <a:spcPts val="1560"/>
              </a:lnSpc>
              <a:buNone/>
            </a:pPr>
            <a:r>
              <a:rPr lang="en-US" sz="1400" dirty="0">
                <a:solidFill>
                  <a:srgbClr val="E8ECF2"/>
                </a:solidFill>
                <a:latin typeface="JetBrains Mono" pitchFamily="34" charset="0"/>
                <a:ea typeface="JetBrains Mono" pitchFamily="34" charset="-122"/>
                <a:cs typeface="JetBrains Mono" pitchFamily="34" charset="-120"/>
              </a:rPr>
              <a:t>  - type: rotating</a:t>
            </a:r>
            <a:endParaRPr lang="en-US" sz="1400" dirty="0"/>
          </a:p>
          <a:p>
            <a:pPr marL="0" indent="0" algn="l">
              <a:lnSpc>
                <a:spcPts val="1560"/>
              </a:lnSpc>
              <a:buNone/>
            </a:pPr>
            <a:r>
              <a:rPr lang="en-US" sz="1400" dirty="0">
                <a:solidFill>
                  <a:srgbClr val="E8ECF2"/>
                </a:solidFill>
                <a:latin typeface="JetBrains Mono" pitchFamily="34" charset="0"/>
                <a:ea typeface="JetBrains Mono" pitchFamily="34" charset="-122"/>
                <a:cs typeface="JetBrains Mono" pitchFamily="34" charset="-120"/>
              </a:rPr>
              <a:t>    name: blade</a:t>
            </a:r>
            <a:endParaRPr lang="en-US" sz="1400" dirty="0"/>
          </a:p>
          <a:p>
            <a:pPr marL="0" indent="0" algn="l">
              <a:lnSpc>
                <a:spcPts val="1560"/>
              </a:lnSpc>
              <a:buNone/>
            </a:pPr>
            <a:r>
              <a:rPr lang="en-US" sz="1400" dirty="0">
                <a:solidFill>
                  <a:srgbClr val="E8ECF2"/>
                </a:solidFill>
                <a:latin typeface="JetBrains Mono" pitchFamily="34" charset="0"/>
                <a:ea typeface="JetBrains Mono" pitchFamily="34" charset="-122"/>
                <a:cs typeface="JetBrains Mono" pitchFamily="34" charset="-120"/>
              </a:rPr>
              <a:t>    excess_m: 0.4</a:t>
            </a:r>
            <a:endParaRPr lang="en-US" sz="1400" dirty="0"/>
          </a:p>
          <a:p>
            <a:pPr marL="0" indent="0" algn="l">
              <a:lnSpc>
                <a:spcPts val="1560"/>
              </a:lnSpc>
              <a:buNone/>
            </a:pPr>
            <a:r>
              <a:rPr lang="en-US" sz="1400" dirty="0">
                <a:solidFill>
                  <a:srgbClr val="E8ECF2"/>
                </a:solidFill>
                <a:latin typeface="JetBrains Mono" pitchFamily="34" charset="0"/>
                <a:ea typeface="JetBrains Mono" pitchFamily="34" charset="-122"/>
                <a:cs typeface="JetBrains Mono" pitchFamily="34" charset="-120"/>
              </a:rPr>
              <a:t>    radius_m: 0.25</a:t>
            </a:r>
            <a:endParaRPr lang="en-US" sz="1400" dirty="0"/>
          </a:p>
          <a:p>
            <a:pPr marL="0" indent="0" algn="l">
              <a:lnSpc>
                <a:spcPts val="1560"/>
              </a:lnSpc>
              <a:buNone/>
            </a:pPr>
            <a:r>
              <a:rPr lang="en-US" sz="1400" dirty="0">
                <a:solidFill>
                  <a:srgbClr val="E8ECF2"/>
                </a:solidFill>
                <a:latin typeface="JetBrains Mono" pitchFamily="34" charset="0"/>
                <a:ea typeface="JetBrains Mono" pitchFamily="34" charset="-122"/>
                <a:cs typeface="JetBrains Mono" pitchFamily="34" charset="-120"/>
              </a:rPr>
              <a:t>    rot_hz: 7</a:t>
            </a:r>
            <a:endParaRPr lang="en-US" sz="1400" dirty="0"/>
          </a:p>
          <a:p>
            <a:pPr marL="0" indent="0" algn="l">
              <a:lnSpc>
                <a:spcPts val="1560"/>
              </a:lnSpc>
              <a:buNone/>
            </a:pPr>
            <a:r>
              <a:rPr lang="en-US" sz="1400" dirty="0">
                <a:solidFill>
                  <a:srgbClr val="E8ECF2"/>
                </a:solidFill>
                <a:latin typeface="JetBrains Mono" pitchFamily="34" charset="0"/>
                <a:ea typeface="JetBrains Mono" pitchFamily="34" charset="-122"/>
                <a:cs typeface="JetBrains Mono" pitchFamily="34" charset="-120"/>
              </a:rPr>
              <a:t>    gain_db: -30</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876726" y="1691512"/>
          <a:ext cx="6502483" cy="2297771"/>
        </p:xfrm>
        <a:graphic>
          <a:graphicData uri="http://schemas.openxmlformats.org/drawingml/2006/table">
            <a:tbl>
              <a:tblPr/>
              <a:tblGrid>
                <a:gridCol w="1170447">
                  <a:extLst>
                    <a:ext uri="{9D8B030D-6E8A-4147-A177-3AD203B41FA5}">
                      <a16:colId xmlns:a16="http://schemas.microsoft.com/office/drawing/2014/main" val="20000"/>
                    </a:ext>
                  </a:extLst>
                </a:gridCol>
                <a:gridCol w="2340894">
                  <a:extLst>
                    <a:ext uri="{9D8B030D-6E8A-4147-A177-3AD203B41FA5}">
                      <a16:colId xmlns:a16="http://schemas.microsoft.com/office/drawing/2014/main" val="20001"/>
                    </a:ext>
                  </a:extLst>
                </a:gridCol>
                <a:gridCol w="2991142">
                  <a:extLst>
                    <a:ext uri="{9D8B030D-6E8A-4147-A177-3AD203B41FA5}">
                      <a16:colId xmlns:a16="http://schemas.microsoft.com/office/drawing/2014/main" val="20002"/>
                    </a:ext>
                  </a:extLst>
                </a:gridCol>
              </a:tblGrid>
              <a:tr h="331546">
                <a:tc>
                  <a:txBody>
                    <a:bodyPr/>
                    <a:lstStyle/>
                    <a:p>
                      <a:pPr marL="0" indent="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Path</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tc>
                  <a:txBody>
                    <a:bodyPr/>
                    <a:lstStyle/>
                    <a:p>
                      <a:pPr marL="0" indent="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Defined as</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tc>
                  <a:txBody>
                    <a:bodyPr/>
                    <a:lstStyle/>
                    <a:p>
                      <a:pPr marL="0" indent="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What it tests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extLst>
                  <a:ext uri="{0D108BD9-81ED-4DB2-BD59-A6C34878D82A}">
                    <a16:rowId xmlns:a16="http://schemas.microsoft.com/office/drawing/2014/main" val="10000"/>
                  </a:ext>
                </a:extLst>
              </a:tr>
              <a:tr h="331546">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satellite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direct</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the reference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4893">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clutter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static, 250 m, −20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must not make a track: zero Doppler, inside the notch</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extLst>
                  <a:ext uri="{0D108BD9-81ED-4DB2-BD59-A6C34878D82A}">
                    <a16:rowId xmlns:a16="http://schemas.microsoft.com/office/drawing/2014/main" val="10002"/>
                  </a:ext>
                </a:extLst>
              </a:tr>
              <a:tr h="544893">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drone</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linear, 640 m, +4.7 m/s, −25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exact commanded truth at −38.8 Hz</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4893">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blade</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rotating, r = 0.25 m, 7 rev/s, −30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micro-Doppler; 0.4 m of excess path puts it in the direct path's cell</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extLst>
                  <a:ext uri="{0D108BD9-81ED-4DB2-BD59-A6C34878D82A}">
                    <a16:rowId xmlns:a16="http://schemas.microsoft.com/office/drawing/2014/main" val="10004"/>
                  </a:ext>
                </a:extLst>
              </a:tr>
            </a:tbl>
          </a:graphicData>
        </a:graphic>
      </p:graphicFrame>
      <p:sp>
        <p:nvSpPr>
          <p:cNvPr id="7" name="Text 4"/>
          <p:cNvSpPr/>
          <p:nvPr/>
        </p:nvSpPr>
        <p:spPr>
          <a:xfrm>
            <a:off x="4876726" y="4435637"/>
            <a:ext cx="6697557" cy="452094"/>
          </a:xfrm>
          <a:prstGeom prst="rect">
            <a:avLst/>
          </a:prstGeom>
          <a:noFill/>
          <a:ln/>
        </p:spPr>
        <p:txBody>
          <a:bodyPr wrap="square" lIns="0" tIns="0" rIns="0" bIns="0" rtlCol="0" anchor="t">
            <a:noAutofit/>
          </a:bodyPr>
          <a:lstStyle/>
          <a:p>
            <a:pPr marL="0" indent="0" algn="l">
              <a:lnSpc>
                <a:spcPts val="1680"/>
              </a:lnSpc>
              <a:buNone/>
            </a:pPr>
            <a:r>
              <a:rPr lang="en-US" sz="1400" dirty="0">
                <a:solidFill>
                  <a:srgbClr val="465264"/>
                </a:solidFill>
                <a:latin typeface="IBM Plex Sans" pitchFamily="34" charset="0"/>
                <a:ea typeface="IBM Plex Sans" pitchFamily="34" charset="-122"/>
                <a:cs typeface="IBM Plex Sans" pitchFamily="34" charset="-120"/>
              </a:rPr>
              <a:t>Also: pendulum · custom (any expression in t) </a:t>
            </a:r>
          </a:p>
          <a:p>
            <a:pPr marL="0" indent="0" algn="l">
              <a:lnSpc>
                <a:spcPts val="1680"/>
              </a:lnSpc>
              <a:buNone/>
            </a:pPr>
            <a:r>
              <a:rPr lang="en-US" sz="1400" dirty="0">
                <a:solidFill>
                  <a:srgbClr val="465264"/>
                </a:solidFill>
                <a:latin typeface="IBM Plex Sans" pitchFamily="34" charset="0"/>
                <a:ea typeface="IBM Plex Sans" pitchFamily="34" charset="-122"/>
                <a:cs typeface="IBM Plex Sans" pitchFamily="34" charset="-120"/>
              </a:rPr>
              <a:t>· ntn_tdl (3GPP TR 38.811, off by default). </a:t>
            </a:r>
          </a:p>
          <a:p>
            <a:pPr marL="0" indent="0" algn="l">
              <a:lnSpc>
                <a:spcPts val="1680"/>
              </a:lnSpc>
              <a:buNone/>
            </a:pPr>
            <a:r>
              <a:rPr lang="en-US" sz="1400" b="1" dirty="0" err="1">
                <a:solidFill>
                  <a:srgbClr val="465264"/>
                </a:solidFill>
                <a:latin typeface="IBM Plex Sans" pitchFamily="34" charset="0"/>
                <a:ea typeface="IBM Plex Sans" pitchFamily="34" charset="-122"/>
                <a:cs typeface="IBM Plex Sans" pitchFamily="34" charset="-120"/>
              </a:rPr>
              <a:t>gain_db</a:t>
            </a:r>
            <a:r>
              <a:rPr lang="en-US" sz="1400" dirty="0">
                <a:solidFill>
                  <a:srgbClr val="465264"/>
                </a:solidFill>
                <a:latin typeface="IBM Plex Sans" pitchFamily="34" charset="0"/>
                <a:ea typeface="IBM Plex Sans" pitchFamily="34" charset="-122"/>
                <a:cs typeface="IBM Plex Sans" pitchFamily="34" charset="-120"/>
              </a:rPr>
              <a:t> is echo-to-direct: RCS and range folded together.</a:t>
            </a:r>
            <a:endParaRPr lang="en-US" sz="1400" dirty="0"/>
          </a:p>
        </p:txBody>
      </p:sp>
      <p:sp>
        <p:nvSpPr>
          <p:cNvPr id="8" name="Text 5"/>
          <p:cNvSpPr/>
          <p:nvPr/>
        </p:nvSpPr>
        <p:spPr>
          <a:xfrm>
            <a:off x="812765" y="6238273"/>
            <a:ext cx="7848582" cy="238747"/>
          </a:xfrm>
          <a:prstGeom prst="rect">
            <a:avLst/>
          </a:prstGeom>
          <a:noFill/>
          <a:ln/>
        </p:spPr>
        <p:txBody>
          <a:bodyPr wrap="square" lIns="0" tIns="0" rIns="0" bIns="0" rtlCol="0" anchor="t">
            <a:noAutofit/>
          </a:bodyPr>
          <a:lstStyle/>
          <a:p>
            <a:pPr marL="0" indent="0" algn="l">
              <a:lnSpc>
                <a:spcPts val="1680"/>
              </a:lnSpc>
              <a:buNone/>
            </a:pPr>
            <a:r>
              <a:rPr lang="en-US" sz="1400" dirty="0">
                <a:solidFill>
                  <a:srgbClr val="5F6B7A"/>
                </a:solidFill>
                <a:latin typeface="IBM Plex Sans" pitchFamily="34" charset="0"/>
                <a:ea typeface="IBM Plex Sans" pitchFamily="34" charset="-122"/>
                <a:cs typeface="IBM Plex Sans" pitchFamily="34" charset="-120"/>
              </a:rPr>
              <a:t>NTN ISAC in GNU Radio · GRCon 2026</a:t>
            </a:r>
            <a:endParaRPr lang="en-US" sz="1400" dirty="0"/>
          </a:p>
        </p:txBody>
      </p:sp>
      <p:sp>
        <p:nvSpPr>
          <p:cNvPr id="9" name="Text 6"/>
          <p:cNvSpPr/>
          <p:nvPr/>
        </p:nvSpPr>
        <p:spPr>
          <a:xfrm>
            <a:off x="10058426" y="6238273"/>
            <a:ext cx="1320782" cy="238747"/>
          </a:xfrm>
          <a:prstGeom prst="rect">
            <a:avLst/>
          </a:prstGeom>
          <a:noFill/>
          <a:ln/>
        </p:spPr>
        <p:txBody>
          <a:bodyPr wrap="square" lIns="0" tIns="0" rIns="0" bIns="0" rtlCol="0" anchor="t">
            <a:noAutofit/>
          </a:bodyPr>
          <a:lstStyle/>
          <a:p>
            <a:pPr marL="0" indent="0" algn="r">
              <a:lnSpc>
                <a:spcPts val="1680"/>
              </a:lnSpc>
              <a:buNone/>
            </a:pPr>
            <a:r>
              <a:rPr lang="en-US" sz="1400" dirty="0">
                <a:solidFill>
                  <a:srgbClr val="5F6B7A"/>
                </a:solidFill>
                <a:latin typeface="JetBrains Mono" pitchFamily="34" charset="0"/>
                <a:ea typeface="JetBrains Mono" pitchFamily="34" charset="-122"/>
                <a:cs typeface="JetBrains Mono" pitchFamily="34" charset="-120"/>
              </a:rPr>
              <a:t>12</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69"/>
            <a:ext cx="10883436"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WHAT THE RECEIVER SEES</a:t>
            </a:r>
            <a:endParaRPr lang="en-US" sz="1200" dirty="0"/>
          </a:p>
        </p:txBody>
      </p:sp>
      <p:sp>
        <p:nvSpPr>
          <p:cNvPr id="3" name="Text 1"/>
          <p:cNvSpPr/>
          <p:nvPr/>
        </p:nvSpPr>
        <p:spPr>
          <a:xfrm>
            <a:off x="812765" y="1071811"/>
            <a:ext cx="10883436" cy="416543"/>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72030"/>
                </a:solidFill>
                <a:latin typeface="IBM Plex Sans" pitchFamily="34" charset="0"/>
                <a:ea typeface="IBM Plex Sans" pitchFamily="34" charset="-122"/>
                <a:cs typeface="IBM Plex Sans" pitchFamily="34" charset="-120"/>
              </a:rPr>
              <a:t>Six channels, one dwell: what is seen and what is not</a:t>
            </a:r>
            <a:endParaRPr lang="en-US" sz="2800" dirty="0"/>
          </a:p>
        </p:txBody>
      </p:sp>
      <p:pic>
        <p:nvPicPr>
          <p:cNvPr id="4" name="Image 0" descr="Six delay-Doppler maps: direct only, plus clutter, plus a moving target, then the target turned down to -55 dB"/>
          <p:cNvPicPr>
            <a:picLocks noChangeAspect="1"/>
          </p:cNvPicPr>
          <p:nvPr/>
        </p:nvPicPr>
        <p:blipFill>
          <a:blip r:embed="rId3"/>
          <a:srcRect l="-72" r="-72"/>
          <a:stretch/>
        </p:blipFill>
        <p:spPr>
          <a:xfrm>
            <a:off x="819115" y="1697862"/>
            <a:ext cx="5321288" cy="4051261"/>
          </a:xfrm>
          <a:prstGeom prst="roundRect">
            <a:avLst>
              <a:gd name="adj" fmla="val 1724"/>
            </a:avLst>
          </a:prstGeom>
        </p:spPr>
      </p:pic>
      <p:sp>
        <p:nvSpPr>
          <p:cNvPr id="5" name="Shape 2"/>
          <p:cNvSpPr/>
          <p:nvPr/>
        </p:nvSpPr>
        <p:spPr>
          <a:xfrm>
            <a:off x="815940" y="1694687"/>
            <a:ext cx="5327638" cy="4057611"/>
          </a:xfrm>
          <a:prstGeom prst="roundRect">
            <a:avLst>
              <a:gd name="adj" fmla="val 1800"/>
            </a:avLst>
          </a:prstGeom>
          <a:noFill/>
          <a:ln w="6350">
            <a:solidFill>
              <a:srgbClr val="E2E0D9"/>
            </a:solidFill>
            <a:prstDash val="solid"/>
          </a:ln>
        </p:spPr>
        <p:txBody>
          <a:bodyPr/>
          <a:lstStyle/>
          <a:p>
            <a:endParaRPr lang="en-US"/>
          </a:p>
        </p:txBody>
      </p:sp>
      <p:sp>
        <p:nvSpPr>
          <p:cNvPr id="6" name="Shape 3"/>
          <p:cNvSpPr/>
          <p:nvPr/>
        </p:nvSpPr>
        <p:spPr>
          <a:xfrm>
            <a:off x="6403897" y="1694687"/>
            <a:ext cx="4972135" cy="707418"/>
          </a:xfrm>
          <a:prstGeom prst="roundRect">
            <a:avLst>
              <a:gd name="adj" fmla="val 12118"/>
            </a:avLst>
          </a:prstGeom>
          <a:solidFill>
            <a:srgbClr val="FFFFFF"/>
          </a:solidFill>
          <a:ln w="6350">
            <a:solidFill>
              <a:srgbClr val="E2E0D9"/>
            </a:solidFill>
            <a:prstDash val="solid"/>
          </a:ln>
        </p:spPr>
        <p:txBody>
          <a:bodyPr/>
          <a:lstStyle/>
          <a:p>
            <a:endParaRPr lang="en-US"/>
          </a:p>
        </p:txBody>
      </p:sp>
      <p:sp>
        <p:nvSpPr>
          <p:cNvPr id="7" name="Text 4"/>
          <p:cNvSpPr/>
          <p:nvPr/>
        </p:nvSpPr>
        <p:spPr>
          <a:xfrm>
            <a:off x="6558910" y="1811567"/>
            <a:ext cx="4801974"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1 · Direct path only</a:t>
            </a:r>
            <a:endParaRPr lang="en-US" sz="1400" dirty="0"/>
          </a:p>
        </p:txBody>
      </p:sp>
      <p:sp>
        <p:nvSpPr>
          <p:cNvPr id="8" name="Text 5"/>
          <p:cNvSpPr/>
          <p:nvPr/>
        </p:nvSpPr>
        <p:spPr>
          <a:xfrm>
            <a:off x="6558910" y="2071880"/>
            <a:ext cx="4801974"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the target-absent control: nothing at the red truth circle</a:t>
            </a:r>
            <a:endParaRPr lang="en-US" sz="1200" dirty="0"/>
          </a:p>
        </p:txBody>
      </p:sp>
      <p:sp>
        <p:nvSpPr>
          <p:cNvPr id="9" name="Shape 6"/>
          <p:cNvSpPr/>
          <p:nvPr/>
        </p:nvSpPr>
        <p:spPr>
          <a:xfrm>
            <a:off x="6403897" y="2484630"/>
            <a:ext cx="4972135" cy="707418"/>
          </a:xfrm>
          <a:prstGeom prst="roundRect">
            <a:avLst>
              <a:gd name="adj" fmla="val 12118"/>
            </a:avLst>
          </a:prstGeom>
          <a:solidFill>
            <a:srgbClr val="FFFFFF"/>
          </a:solidFill>
          <a:ln w="6350">
            <a:solidFill>
              <a:srgbClr val="E2E0D9"/>
            </a:solidFill>
            <a:prstDash val="solid"/>
          </a:ln>
        </p:spPr>
        <p:txBody>
          <a:bodyPr/>
          <a:lstStyle/>
          <a:p>
            <a:endParaRPr lang="en-US"/>
          </a:p>
        </p:txBody>
      </p:sp>
      <p:sp>
        <p:nvSpPr>
          <p:cNvPr id="10" name="Text 7"/>
          <p:cNvSpPr/>
          <p:nvPr/>
        </p:nvSpPr>
        <p:spPr>
          <a:xfrm>
            <a:off x="6558910" y="2601509"/>
            <a:ext cx="4801974"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2 · + clutter at 250 m</a:t>
            </a:r>
            <a:endParaRPr lang="en-US" sz="1400" dirty="0"/>
          </a:p>
        </p:txBody>
      </p:sp>
      <p:sp>
        <p:nvSpPr>
          <p:cNvPr id="11" name="Text 8"/>
          <p:cNvSpPr/>
          <p:nvPr/>
        </p:nvSpPr>
        <p:spPr>
          <a:xfrm>
            <a:off x="6558910" y="2861822"/>
            <a:ext cx="4801974"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visible, but at zero Doppler inside the notch: correctly not detected</a:t>
            </a:r>
            <a:endParaRPr lang="en-US" sz="1200" dirty="0"/>
          </a:p>
        </p:txBody>
      </p:sp>
      <p:sp>
        <p:nvSpPr>
          <p:cNvPr id="12" name="Shape 9"/>
          <p:cNvSpPr/>
          <p:nvPr/>
        </p:nvSpPr>
        <p:spPr>
          <a:xfrm>
            <a:off x="6403897" y="3274572"/>
            <a:ext cx="4972135" cy="707418"/>
          </a:xfrm>
          <a:prstGeom prst="roundRect">
            <a:avLst>
              <a:gd name="adj" fmla="val 12118"/>
            </a:avLst>
          </a:prstGeom>
          <a:solidFill>
            <a:srgbClr val="FFFFFF"/>
          </a:solidFill>
          <a:ln w="6350">
            <a:solidFill>
              <a:srgbClr val="E2E0D9"/>
            </a:solidFill>
            <a:prstDash val="solid"/>
          </a:ln>
        </p:spPr>
        <p:txBody>
          <a:bodyPr/>
          <a:lstStyle/>
          <a:p>
            <a:endParaRPr lang="en-US"/>
          </a:p>
        </p:txBody>
      </p:sp>
      <p:sp>
        <p:nvSpPr>
          <p:cNvPr id="13" name="Text 10"/>
          <p:cNvSpPr/>
          <p:nvPr/>
        </p:nvSpPr>
        <p:spPr>
          <a:xfrm>
            <a:off x="6558910" y="3391452"/>
            <a:ext cx="4801974"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3 · + drone at −25 dB</a:t>
            </a:r>
            <a:endParaRPr lang="en-US" sz="1400" dirty="0"/>
          </a:p>
        </p:txBody>
      </p:sp>
      <p:sp>
        <p:nvSpPr>
          <p:cNvPr id="14" name="Text 11"/>
          <p:cNvSpPr/>
          <p:nvPr/>
        </p:nvSpPr>
        <p:spPr>
          <a:xfrm>
            <a:off x="6558910" y="3651758"/>
            <a:ext cx="4801974"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detected at 640 m and −38.8 Hz, on the truth circle</a:t>
            </a:r>
            <a:endParaRPr lang="en-US" sz="1200" dirty="0"/>
          </a:p>
        </p:txBody>
      </p:sp>
      <p:sp>
        <p:nvSpPr>
          <p:cNvPr id="15" name="Shape 12"/>
          <p:cNvSpPr/>
          <p:nvPr/>
        </p:nvSpPr>
        <p:spPr>
          <a:xfrm>
            <a:off x="6403897" y="4064508"/>
            <a:ext cx="4972135" cy="707418"/>
          </a:xfrm>
          <a:prstGeom prst="roundRect">
            <a:avLst>
              <a:gd name="adj" fmla="val 12118"/>
            </a:avLst>
          </a:prstGeom>
          <a:solidFill>
            <a:srgbClr val="FFFFFF"/>
          </a:solidFill>
          <a:ln w="6350">
            <a:solidFill>
              <a:srgbClr val="E2E0D9"/>
            </a:solidFill>
            <a:prstDash val="solid"/>
          </a:ln>
        </p:spPr>
        <p:txBody>
          <a:bodyPr/>
          <a:lstStyle/>
          <a:p>
            <a:endParaRPr lang="en-US"/>
          </a:p>
        </p:txBody>
      </p:sp>
      <p:sp>
        <p:nvSpPr>
          <p:cNvPr id="16" name="Text 13"/>
          <p:cNvSpPr/>
          <p:nvPr/>
        </p:nvSpPr>
        <p:spPr>
          <a:xfrm>
            <a:off x="6558910" y="4181388"/>
            <a:ext cx="4801974"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4 to 6 · turned down</a:t>
            </a:r>
            <a:endParaRPr lang="en-US" sz="1400" dirty="0"/>
          </a:p>
        </p:txBody>
      </p:sp>
      <p:sp>
        <p:nvSpPr>
          <p:cNvPr id="17" name="Text 14"/>
          <p:cNvSpPr/>
          <p:nvPr/>
        </p:nvSpPr>
        <p:spPr>
          <a:xfrm>
            <a:off x="6558910" y="4441701"/>
            <a:ext cx="4801974"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−35, −45 and −55 dB: still detected, fading toward the floor</a:t>
            </a:r>
            <a:endParaRPr lang="en-US" sz="1200" dirty="0"/>
          </a:p>
        </p:txBody>
      </p:sp>
      <p:sp>
        <p:nvSpPr>
          <p:cNvPr id="18" name="Text 15"/>
          <p:cNvSpPr/>
          <p:nvPr/>
        </p:nvSpPr>
        <p:spPr>
          <a:xfrm>
            <a:off x="812765" y="6238280"/>
            <a:ext cx="7848582"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NTN ISAC in GNU Radio · GRCon 2026</a:t>
            </a:r>
            <a:endParaRPr lang="en-US" sz="1200" dirty="0"/>
          </a:p>
        </p:txBody>
      </p:sp>
      <p:sp>
        <p:nvSpPr>
          <p:cNvPr id="19" name="Text 16"/>
          <p:cNvSpPr/>
          <p:nvPr/>
        </p:nvSpPr>
        <p:spPr>
          <a:xfrm>
            <a:off x="10058426" y="6238280"/>
            <a:ext cx="1320782"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34" charset="0"/>
                <a:ea typeface="JetBrains Mono" pitchFamily="34" charset="-122"/>
                <a:cs typeface="JetBrains Mono" pitchFamily="34" charset="-120"/>
              </a:rPr>
              <a:t>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WHAT THE RECEIVER SEES</a:t>
            </a:r>
            <a:endParaRPr lang="en-US" sz="1200" dirty="0"/>
          </a:p>
        </p:txBody>
      </p:sp>
      <p:sp>
        <p:nvSpPr>
          <p:cNvPr id="3" name="Text 1"/>
          <p:cNvSpPr/>
          <p:nvPr/>
        </p:nvSpPr>
        <p:spPr>
          <a:xfrm>
            <a:off x="812765" y="1071804"/>
            <a:ext cx="10883436" cy="416543"/>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72030"/>
                </a:solidFill>
                <a:latin typeface="IBM Plex Sans" pitchFamily="34" charset="0"/>
                <a:ea typeface="IBM Plex Sans" pitchFamily="34" charset="-122"/>
                <a:cs typeface="IBM Plex Sans" pitchFamily="34" charset="-120"/>
              </a:rPr>
              <a:t>One cut through the map: the gap is the measurement</a:t>
            </a:r>
            <a:endParaRPr lang="en-US" sz="2800" dirty="0"/>
          </a:p>
        </p:txBody>
      </p:sp>
      <p:pic>
        <p:nvPicPr>
          <p:cNvPr id="4" name="Image 0" descr="Cut across the delay-Doppler map at -38.8 Hz for the six channels"/>
          <p:cNvPicPr>
            <a:picLocks noChangeAspect="1"/>
          </p:cNvPicPr>
          <p:nvPr/>
        </p:nvPicPr>
        <p:blipFill>
          <a:blip r:embed="rId3"/>
          <a:srcRect l="-49" r="-49"/>
          <a:stretch/>
        </p:blipFill>
        <p:spPr>
          <a:xfrm>
            <a:off x="819115" y="1697862"/>
            <a:ext cx="6756386" cy="3924276"/>
          </a:xfrm>
          <a:prstGeom prst="roundRect">
            <a:avLst>
              <a:gd name="adj" fmla="val 1780"/>
            </a:avLst>
          </a:prstGeom>
        </p:spPr>
      </p:pic>
      <p:sp>
        <p:nvSpPr>
          <p:cNvPr id="5" name="Shape 2"/>
          <p:cNvSpPr/>
          <p:nvPr/>
        </p:nvSpPr>
        <p:spPr>
          <a:xfrm>
            <a:off x="815940" y="1694687"/>
            <a:ext cx="6762736" cy="3930626"/>
          </a:xfrm>
          <a:prstGeom prst="roundRect">
            <a:avLst>
              <a:gd name="adj" fmla="val 1858"/>
            </a:avLst>
          </a:prstGeom>
          <a:noFill/>
          <a:ln w="6350">
            <a:solidFill>
              <a:srgbClr val="E2E0D9"/>
            </a:solidFill>
            <a:prstDash val="solid"/>
          </a:ln>
        </p:spPr>
        <p:txBody>
          <a:bodyPr/>
          <a:lstStyle/>
          <a:p>
            <a:endParaRPr lang="en-US"/>
          </a:p>
        </p:txBody>
      </p:sp>
      <p:sp>
        <p:nvSpPr>
          <p:cNvPr id="6" name="Shape 3"/>
          <p:cNvSpPr/>
          <p:nvPr/>
        </p:nvSpPr>
        <p:spPr>
          <a:xfrm>
            <a:off x="7838995" y="1694687"/>
            <a:ext cx="3537037" cy="920765"/>
          </a:xfrm>
          <a:prstGeom prst="roundRect">
            <a:avLst>
              <a:gd name="adj" fmla="val 9310"/>
            </a:avLst>
          </a:prstGeom>
          <a:solidFill>
            <a:srgbClr val="FFFFFF"/>
          </a:solidFill>
          <a:ln w="6350">
            <a:solidFill>
              <a:srgbClr val="E2E0D9"/>
            </a:solidFill>
            <a:prstDash val="solid"/>
          </a:ln>
        </p:spPr>
        <p:txBody>
          <a:bodyPr/>
          <a:lstStyle/>
          <a:p>
            <a:endParaRPr lang="en-US"/>
          </a:p>
        </p:txBody>
      </p:sp>
      <p:sp>
        <p:nvSpPr>
          <p:cNvPr id="7" name="Text 4"/>
          <p:cNvSpPr/>
          <p:nvPr/>
        </p:nvSpPr>
        <p:spPr>
          <a:xfrm>
            <a:off x="7994008" y="1811567"/>
            <a:ext cx="3323823"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Dark trace: target absent</a:t>
            </a:r>
            <a:endParaRPr lang="en-US" sz="1400" dirty="0"/>
          </a:p>
        </p:txBody>
      </p:sp>
      <p:sp>
        <p:nvSpPr>
          <p:cNvPr id="8" name="Text 5"/>
          <p:cNvSpPr/>
          <p:nvPr/>
        </p:nvSpPr>
        <p:spPr>
          <a:xfrm>
            <a:off x="7994008" y="2071874"/>
            <a:ext cx="3323823"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the baseline. Everything above it at 640 m is the object</a:t>
            </a:r>
            <a:endParaRPr lang="en-US" sz="1200" dirty="0"/>
          </a:p>
        </p:txBody>
      </p:sp>
      <p:sp>
        <p:nvSpPr>
          <p:cNvPr id="9" name="Shape 6"/>
          <p:cNvSpPr/>
          <p:nvPr/>
        </p:nvSpPr>
        <p:spPr>
          <a:xfrm>
            <a:off x="7838995" y="2723381"/>
            <a:ext cx="3537037" cy="920765"/>
          </a:xfrm>
          <a:prstGeom prst="roundRect">
            <a:avLst>
              <a:gd name="adj" fmla="val 9310"/>
            </a:avLst>
          </a:prstGeom>
          <a:solidFill>
            <a:srgbClr val="FFFFFF"/>
          </a:solidFill>
          <a:ln w="6350">
            <a:solidFill>
              <a:srgbClr val="E2E0D9"/>
            </a:solidFill>
            <a:prstDash val="solid"/>
          </a:ln>
        </p:spPr>
        <p:txBody>
          <a:bodyPr/>
          <a:lstStyle/>
          <a:p>
            <a:endParaRPr lang="en-US"/>
          </a:p>
        </p:txBody>
      </p:sp>
      <p:sp>
        <p:nvSpPr>
          <p:cNvPr id="10" name="Text 7"/>
          <p:cNvSpPr/>
          <p:nvPr/>
        </p:nvSpPr>
        <p:spPr>
          <a:xfrm>
            <a:off x="7994008" y="2840261"/>
            <a:ext cx="3323823"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−25 to −55 dB</a:t>
            </a:r>
            <a:endParaRPr lang="en-US" sz="1400" dirty="0"/>
          </a:p>
        </p:txBody>
      </p:sp>
      <p:sp>
        <p:nvSpPr>
          <p:cNvPr id="11" name="Text 8"/>
          <p:cNvSpPr/>
          <p:nvPr/>
        </p:nvSpPr>
        <p:spPr>
          <a:xfrm>
            <a:off x="7994008" y="3100567"/>
            <a:ext cx="3323823"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the peak drops about 9 to 10 dB for every 10 dB of echo</a:t>
            </a:r>
            <a:endParaRPr lang="en-US" sz="1200" dirty="0"/>
          </a:p>
        </p:txBody>
      </p:sp>
      <p:sp>
        <p:nvSpPr>
          <p:cNvPr id="12" name="Shape 9"/>
          <p:cNvSpPr/>
          <p:nvPr/>
        </p:nvSpPr>
        <p:spPr>
          <a:xfrm>
            <a:off x="7838995" y="3752075"/>
            <a:ext cx="3537037" cy="920765"/>
          </a:xfrm>
          <a:prstGeom prst="roundRect">
            <a:avLst>
              <a:gd name="adj" fmla="val 9310"/>
            </a:avLst>
          </a:prstGeom>
          <a:solidFill>
            <a:srgbClr val="FFFFFF"/>
          </a:solidFill>
          <a:ln w="6350">
            <a:solidFill>
              <a:srgbClr val="E2E0D9"/>
            </a:solidFill>
            <a:prstDash val="solid"/>
          </a:ln>
        </p:spPr>
        <p:txBody>
          <a:bodyPr/>
          <a:lstStyle/>
          <a:p>
            <a:endParaRPr lang="en-US"/>
          </a:p>
        </p:txBody>
      </p:sp>
      <p:sp>
        <p:nvSpPr>
          <p:cNvPr id="13" name="Text 10"/>
          <p:cNvSpPr/>
          <p:nvPr/>
        </p:nvSpPr>
        <p:spPr>
          <a:xfrm>
            <a:off x="7994008" y="3868955"/>
            <a:ext cx="3323823"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The floor is not flat</a:t>
            </a:r>
            <a:endParaRPr lang="en-US" sz="1400" dirty="0"/>
          </a:p>
        </p:txBody>
      </p:sp>
      <p:sp>
        <p:nvSpPr>
          <p:cNvPr id="14" name="Text 11"/>
          <p:cNvSpPr/>
          <p:nvPr/>
        </p:nvSpPr>
        <p:spPr>
          <a:xfrm>
            <a:off x="7994008" y="4129261"/>
            <a:ext cx="3323823"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the wiggles at 20 to 35 dB are the direct path's sidelobes: structure, not noise</a:t>
            </a:r>
            <a:endParaRPr lang="en-US" sz="1200" dirty="0"/>
          </a:p>
        </p:txBody>
      </p:sp>
      <p:sp>
        <p:nvSpPr>
          <p:cNvPr id="15" name="Text 12"/>
          <p:cNvSpPr/>
          <p:nvPr/>
        </p:nvSpPr>
        <p:spPr>
          <a:xfrm>
            <a:off x="812765" y="6238273"/>
            <a:ext cx="7848582"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NTN ISAC in GNU Radio · GRCon 2026</a:t>
            </a:r>
            <a:endParaRPr lang="en-US" sz="1200" dirty="0"/>
          </a:p>
        </p:txBody>
      </p:sp>
      <p:sp>
        <p:nvSpPr>
          <p:cNvPr id="16" name="Text 13"/>
          <p:cNvSpPr/>
          <p:nvPr/>
        </p:nvSpPr>
        <p:spPr>
          <a:xfrm>
            <a:off x="10058426" y="6238273"/>
            <a:ext cx="1320782"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34" charset="0"/>
                <a:ea typeface="JetBrains Mono" pitchFamily="34" charset="-122"/>
                <a:cs typeface="JetBrains Mono" pitchFamily="34" charset="-120"/>
              </a:rPr>
              <a:t>14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69"/>
            <a:ext cx="10883436"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PAYLOAD-AIDED ISAC</a:t>
            </a:r>
            <a:endParaRPr lang="en-US" sz="1200" dirty="0"/>
          </a:p>
        </p:txBody>
      </p:sp>
      <p:sp>
        <p:nvSpPr>
          <p:cNvPr id="3" name="Text 1"/>
          <p:cNvSpPr/>
          <p:nvPr/>
        </p:nvSpPr>
        <p:spPr>
          <a:xfrm>
            <a:off x="812765" y="1071811"/>
            <a:ext cx="10883436" cy="416543"/>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72030"/>
                </a:solidFill>
                <a:latin typeface="IBM Plex Sans" pitchFamily="34" charset="0"/>
                <a:ea typeface="IBM Plex Sans" pitchFamily="34" charset="-122"/>
                <a:cs typeface="IBM Plex Sans" pitchFamily="34" charset="-120"/>
              </a:rPr>
              <a:t>Three references: pilots only, payload-aided, genie</a:t>
            </a:r>
            <a:endParaRPr lang="en-US" sz="2800" dirty="0"/>
          </a:p>
        </p:txBody>
      </p:sp>
      <p:pic>
        <p:nvPicPr>
          <p:cNvPr id="4" name="Image 0" descr="Resource grids for the three references: pilots only, pilots plus the receiver's own decisions, and the true grid"/>
          <p:cNvPicPr>
            <a:picLocks noChangeAspect="1"/>
          </p:cNvPicPr>
          <p:nvPr/>
        </p:nvPicPr>
        <p:blipFill>
          <a:blip r:embed="rId3"/>
          <a:srcRect l="-48" r="-48"/>
          <a:stretch/>
        </p:blipFill>
        <p:spPr>
          <a:xfrm>
            <a:off x="819115" y="1697862"/>
            <a:ext cx="5194258" cy="2832091"/>
          </a:xfrm>
          <a:prstGeom prst="roundRect">
            <a:avLst>
              <a:gd name="adj" fmla="val 2466"/>
            </a:avLst>
          </a:prstGeom>
        </p:spPr>
      </p:pic>
      <p:sp>
        <p:nvSpPr>
          <p:cNvPr id="5" name="Shape 2"/>
          <p:cNvSpPr/>
          <p:nvPr/>
        </p:nvSpPr>
        <p:spPr>
          <a:xfrm>
            <a:off x="815940" y="1694687"/>
            <a:ext cx="5200608" cy="2838441"/>
          </a:xfrm>
          <a:prstGeom prst="roundRect">
            <a:avLst>
              <a:gd name="adj" fmla="val 2573"/>
            </a:avLst>
          </a:prstGeom>
          <a:noFill/>
          <a:ln w="6350">
            <a:solidFill>
              <a:srgbClr val="E2E0D9"/>
            </a:solidFill>
            <a:prstDash val="solid"/>
          </a:ln>
        </p:spPr>
        <p:txBody>
          <a:bodyPr/>
          <a:lstStyle/>
          <a:p>
            <a:endParaRPr lang="en-US"/>
          </a:p>
        </p:txBody>
      </p:sp>
      <p:sp>
        <p:nvSpPr>
          <p:cNvPr id="6" name="Text 3"/>
          <p:cNvSpPr/>
          <p:nvPr/>
        </p:nvSpPr>
        <p:spPr>
          <a:xfrm>
            <a:off x="812765" y="4637881"/>
            <a:ext cx="5363167"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Orange: DMRS pilots (type 1: every other subcarrier, on 2 of 14 symbols). Blue: data resource elements.</a:t>
            </a:r>
            <a:endParaRPr lang="en-US" sz="1200" dirty="0"/>
          </a:p>
        </p:txBody>
      </p:sp>
      <p:sp>
        <p:nvSpPr>
          <p:cNvPr id="7" name="Text 4"/>
          <p:cNvSpPr/>
          <p:nvPr/>
        </p:nvSpPr>
        <p:spPr>
          <a:xfrm>
            <a:off x="6273692" y="1691512"/>
            <a:ext cx="5258681"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2030"/>
                </a:solidFill>
                <a:latin typeface="IBM Plex Sans" pitchFamily="34" charset="0"/>
                <a:ea typeface="IBM Plex Sans" pitchFamily="34" charset="-122"/>
                <a:cs typeface="IBM Plex Sans" pitchFamily="34" charset="-120"/>
              </a:rPr>
              <a:t>The receiver chain. Only step 4 differs.</a:t>
            </a:r>
            <a:endParaRPr lang="en-US" sz="1400" dirty="0"/>
          </a:p>
        </p:txBody>
      </p:sp>
      <p:sp>
        <p:nvSpPr>
          <p:cNvPr id="8" name="Text 5"/>
          <p:cNvSpPr/>
          <p:nvPr/>
        </p:nvSpPr>
        <p:spPr>
          <a:xfrm>
            <a:off x="6502292" y="2067396"/>
            <a:ext cx="5023223" cy="1518828"/>
          </a:xfrm>
          <a:prstGeom prst="rect">
            <a:avLst/>
          </a:prstGeom>
          <a:noFill/>
          <a:ln/>
        </p:spPr>
        <p:txBody>
          <a:bodyPr wrap="square" lIns="0" tIns="0" rIns="0" bIns="0" rtlCol="0" anchor="t">
            <a:normAutofit/>
          </a:bodyPr>
          <a:lstStyle/>
          <a:p>
            <a:pPr marL="182880" indent="-182880" algn="l">
              <a:lnSpc>
                <a:spcPts val="1680"/>
              </a:lnSpc>
              <a:buSzPct val="100000"/>
              <a:buFontTx/>
              <a:buAutoNum type="arabicPeriod"/>
            </a:pPr>
            <a:r>
              <a:rPr lang="en-US" sz="1200" dirty="0">
                <a:solidFill>
                  <a:srgbClr val="465264"/>
                </a:solidFill>
                <a:latin typeface="IBM Plex Sans" pitchFamily="34" charset="0"/>
                <a:ea typeface="IBM Plex Sans" pitchFamily="34" charset="-122"/>
                <a:cs typeface="IBM Plex Sans" pitchFamily="34" charset="-120"/>
              </a:rPr>
              <a:t>Demodulate the dwell into a grid Y: subcarrier × symbol</a:t>
            </a:r>
            <a:endParaRPr lang="en-US" sz="1200" dirty="0"/>
          </a:p>
          <a:p>
            <a:pPr marL="182880" indent="-182880" algn="l">
              <a:lnSpc>
                <a:spcPts val="1680"/>
              </a:lnSpc>
              <a:buSzPct val="100000"/>
              <a:buFontTx/>
              <a:buAutoNum type="arabicPeriod"/>
            </a:pPr>
            <a:r>
              <a:rPr lang="en-US" sz="1200" dirty="0">
                <a:solidFill>
                  <a:srgbClr val="465264"/>
                </a:solidFill>
                <a:latin typeface="IBM Plex Sans" pitchFamily="34" charset="0"/>
                <a:ea typeface="IBM Plex Sans" pitchFamily="34" charset="-122"/>
                <a:cs typeface="IBM Plex Sans" pitchFamily="34" charset="-120"/>
              </a:rPr>
              <a:t>Estimate the channel on the pilots (least squares), interpolate</a:t>
            </a:r>
            <a:endParaRPr lang="en-US" sz="1200" dirty="0"/>
          </a:p>
          <a:p>
            <a:pPr marL="182880" indent="-182880" algn="l">
              <a:lnSpc>
                <a:spcPts val="1680"/>
              </a:lnSpc>
              <a:buSzPct val="100000"/>
              <a:buFontTx/>
              <a:buAutoNum type="arabicPeriod"/>
            </a:pPr>
            <a:r>
              <a:rPr lang="en-US" sz="1200" dirty="0">
                <a:solidFill>
                  <a:srgbClr val="465264"/>
                </a:solidFill>
                <a:latin typeface="IBM Plex Sans" pitchFamily="34" charset="0"/>
                <a:ea typeface="IBM Plex Sans" pitchFamily="34" charset="-122"/>
                <a:cs typeface="IBM Plex Sans" pitchFamily="34" charset="-120"/>
              </a:rPr>
              <a:t>Equalise (MMSE)</a:t>
            </a:r>
            <a:endParaRPr lang="en-US" sz="1200" dirty="0"/>
          </a:p>
          <a:p>
            <a:pPr marL="182880" indent="-182880" algn="l">
              <a:lnSpc>
                <a:spcPts val="1680"/>
              </a:lnSpc>
              <a:buSzPct val="100000"/>
              <a:buFontTx/>
              <a:buAutoNum type="arabicPeriod"/>
            </a:pPr>
            <a:r>
              <a:rPr lang="en-US" sz="1200" dirty="0">
                <a:solidFill>
                  <a:srgbClr val="465264"/>
                </a:solidFill>
                <a:latin typeface="IBM Plex Sans" pitchFamily="34" charset="0"/>
                <a:ea typeface="IBM Plex Sans" pitchFamily="34" charset="-122"/>
                <a:cs typeface="IBM Plex Sans" pitchFamily="34" charset="-120"/>
              </a:rPr>
              <a:t>Build the reference: pilots only · pilots + own QPSK decisions · the true grid</a:t>
            </a:r>
            <a:endParaRPr lang="en-US" sz="1200" dirty="0"/>
          </a:p>
          <a:p>
            <a:pPr marL="182880" indent="-182880" algn="l">
              <a:lnSpc>
                <a:spcPts val="1680"/>
              </a:lnSpc>
              <a:buSzPct val="100000"/>
              <a:buFontTx/>
              <a:buAutoNum type="arabicPeriod"/>
            </a:pPr>
            <a:r>
              <a:rPr lang="en-US" sz="1200" dirty="0">
                <a:solidFill>
                  <a:srgbClr val="465264"/>
                </a:solidFill>
                <a:latin typeface="IBM Plex Sans" pitchFamily="34" charset="0"/>
                <a:ea typeface="IBM Plex Sans" pitchFamily="34" charset="-122"/>
                <a:cs typeface="IBM Plex Sans" pitchFamily="34" charset="-120"/>
              </a:rPr>
              <a:t>Correlate: Z = Y · conj(X_ref) / |X_ref| on the occupied REs</a:t>
            </a:r>
            <a:endParaRPr lang="en-US" sz="1200" dirty="0"/>
          </a:p>
          <a:p>
            <a:pPr marL="182880" indent="-182880" algn="l">
              <a:lnSpc>
                <a:spcPts val="1680"/>
              </a:lnSpc>
              <a:buSzPct val="100000"/>
              <a:buFontTx/>
              <a:buAutoNum type="arabicPeriod"/>
            </a:pPr>
            <a:r>
              <a:rPr lang="en-US" sz="1200" dirty="0">
                <a:solidFill>
                  <a:srgbClr val="465264"/>
                </a:solidFill>
                <a:latin typeface="IBM Plex Sans" pitchFamily="34" charset="0"/>
                <a:ea typeface="IBM Plex Sans" pitchFamily="34" charset="-122"/>
                <a:cs typeface="IBM Plex Sans" pitchFamily="34" charset="-120"/>
              </a:rPr>
              <a:t>2-D FFT: subcarriers → delay, symbols → Doppler</a:t>
            </a:r>
            <a:endParaRPr lang="en-US" sz="1200" dirty="0"/>
          </a:p>
        </p:txBody>
      </p:sp>
      <p:sp>
        <p:nvSpPr>
          <p:cNvPr id="9" name="Shape 6"/>
          <p:cNvSpPr/>
          <p:nvPr/>
        </p:nvSpPr>
        <p:spPr>
          <a:xfrm>
            <a:off x="6280042" y="3694156"/>
            <a:ext cx="5092815" cy="801605"/>
          </a:xfrm>
          <a:prstGeom prst="roundRect">
            <a:avLst>
              <a:gd name="adj" fmla="val 10298"/>
            </a:avLst>
          </a:prstGeom>
          <a:solidFill>
            <a:srgbClr val="FFFFFF"/>
          </a:solidFill>
          <a:ln w="12700">
            <a:solidFill>
              <a:srgbClr val="B34E1B"/>
            </a:solidFill>
            <a:prstDash val="solid"/>
          </a:ln>
        </p:spPr>
        <p:txBody>
          <a:bodyPr/>
          <a:lstStyle/>
          <a:p>
            <a:endParaRPr lang="en-US"/>
          </a:p>
        </p:txBody>
      </p:sp>
      <p:sp>
        <p:nvSpPr>
          <p:cNvPr id="10" name="Text 7"/>
          <p:cNvSpPr/>
          <p:nvPr/>
        </p:nvSpPr>
        <p:spPr>
          <a:xfrm>
            <a:off x="6463082" y="3851790"/>
            <a:ext cx="4868537"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All three from one dwell and one channel estimate</a:t>
            </a:r>
            <a:endParaRPr lang="en-US" sz="1400" dirty="0"/>
          </a:p>
        </p:txBody>
      </p:sp>
      <p:sp>
        <p:nvSpPr>
          <p:cNvPr id="11" name="Text 8"/>
          <p:cNvSpPr/>
          <p:nvPr/>
        </p:nvSpPr>
        <p:spPr>
          <a:xfrm>
            <a:off x="6463082" y="4124784"/>
            <a:ext cx="4868537"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a controlled comparison, not three separate runs</a:t>
            </a:r>
            <a:endParaRPr lang="en-US" sz="1200" dirty="0"/>
          </a:p>
        </p:txBody>
      </p:sp>
      <p:sp>
        <p:nvSpPr>
          <p:cNvPr id="12" name="Text 9"/>
          <p:cNvSpPr/>
          <p:nvPr/>
        </p:nvSpPr>
        <p:spPr>
          <a:xfrm>
            <a:off x="812765" y="6238280"/>
            <a:ext cx="7848582"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NTN ISAC in GNU Radio · GRCon 2026</a:t>
            </a:r>
            <a:endParaRPr lang="en-US" sz="1200" dirty="0"/>
          </a:p>
        </p:txBody>
      </p:sp>
      <p:sp>
        <p:nvSpPr>
          <p:cNvPr id="13" name="Text 10"/>
          <p:cNvSpPr/>
          <p:nvPr/>
        </p:nvSpPr>
        <p:spPr>
          <a:xfrm>
            <a:off x="10058426" y="6238280"/>
            <a:ext cx="1320782"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34" charset="0"/>
                <a:ea typeface="JetBrains Mono" pitchFamily="34" charset="-122"/>
                <a:cs typeface="JetBrains Mono" pitchFamily="34" charset="-120"/>
              </a:rPr>
              <a:t>15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0749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PAYLOAD-AIDED ISAC</a:t>
            </a:r>
            <a:endParaRPr lang="en-US" sz="1200" dirty="0"/>
          </a:p>
        </p:txBody>
      </p:sp>
      <p:sp>
        <p:nvSpPr>
          <p:cNvPr id="3" name="Text 1"/>
          <p:cNvSpPr/>
          <p:nvPr/>
        </p:nvSpPr>
        <p:spPr>
          <a:xfrm>
            <a:off x="812765" y="1071035"/>
            <a:ext cx="10883436" cy="414958"/>
          </a:xfrm>
          <a:prstGeom prst="rect">
            <a:avLst/>
          </a:prstGeom>
          <a:noFill/>
          <a:ln/>
        </p:spPr>
        <p:txBody>
          <a:bodyPr wrap="square" lIns="0" tIns="0" rIns="0" bIns="0" rtlCol="0" anchor="t">
            <a:normAutofit/>
          </a:bodyPr>
          <a:lstStyle/>
          <a:p>
            <a:pPr marL="0" indent="0" algn="l">
              <a:lnSpc>
                <a:spcPts val="3070"/>
              </a:lnSpc>
              <a:buNone/>
            </a:pPr>
            <a:r>
              <a:rPr lang="en-US" sz="2791" b="1" dirty="0">
                <a:solidFill>
                  <a:srgbClr val="172030"/>
                </a:solidFill>
                <a:latin typeface="IBM Plex Sans" pitchFamily="34" charset="0"/>
                <a:ea typeface="IBM Plex Sans" pitchFamily="34" charset="-122"/>
                <a:cs typeface="IBM Plex Sans" pitchFamily="34" charset="-120"/>
              </a:rPr>
              <a:t>Payload-aided buys about 3 dB, for free</a:t>
            </a:r>
            <a:endParaRPr lang="en-US" sz="2791" dirty="0"/>
          </a:p>
        </p:txBody>
      </p:sp>
      <p:pic>
        <p:nvPicPr>
          <p:cNvPr id="4" name="Image 0" descr="Detection margin against Es/N0 for the three references"/>
          <p:cNvPicPr>
            <a:picLocks noChangeAspect="1"/>
          </p:cNvPicPr>
          <p:nvPr/>
        </p:nvPicPr>
        <p:blipFill>
          <a:blip r:embed="rId3"/>
          <a:srcRect t="-22" b="-22"/>
          <a:stretch/>
        </p:blipFill>
        <p:spPr>
          <a:xfrm>
            <a:off x="819115" y="1695506"/>
            <a:ext cx="4102072" cy="3797291"/>
          </a:xfrm>
          <a:prstGeom prst="roundRect">
            <a:avLst>
              <a:gd name="adj" fmla="val 1839"/>
            </a:avLst>
          </a:prstGeom>
        </p:spPr>
      </p:pic>
      <p:sp>
        <p:nvSpPr>
          <p:cNvPr id="5" name="Shape 2"/>
          <p:cNvSpPr/>
          <p:nvPr/>
        </p:nvSpPr>
        <p:spPr>
          <a:xfrm>
            <a:off x="815940" y="1692331"/>
            <a:ext cx="4108422" cy="3803641"/>
          </a:xfrm>
          <a:prstGeom prst="roundRect">
            <a:avLst>
              <a:gd name="adj" fmla="val 1920"/>
            </a:avLst>
          </a:prstGeom>
          <a:noFill/>
          <a:ln w="6350">
            <a:solidFill>
              <a:srgbClr val="E2E0D9"/>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181507" y="1689156"/>
          <a:ext cx="6197700" cy="1989276"/>
        </p:xfrm>
        <a:graphic>
          <a:graphicData uri="http://schemas.openxmlformats.org/drawingml/2006/table">
            <a:tbl>
              <a:tblPr/>
              <a:tblGrid>
                <a:gridCol w="1115586">
                  <a:extLst>
                    <a:ext uri="{9D8B030D-6E8A-4147-A177-3AD203B41FA5}">
                      <a16:colId xmlns:a16="http://schemas.microsoft.com/office/drawing/2014/main" val="20000"/>
                    </a:ext>
                  </a:extLst>
                </a:gridCol>
                <a:gridCol w="1239540">
                  <a:extLst>
                    <a:ext uri="{9D8B030D-6E8A-4147-A177-3AD203B41FA5}">
                      <a16:colId xmlns:a16="http://schemas.microsoft.com/office/drawing/2014/main" val="20001"/>
                    </a:ext>
                  </a:extLst>
                </a:gridCol>
                <a:gridCol w="1239540">
                  <a:extLst>
                    <a:ext uri="{9D8B030D-6E8A-4147-A177-3AD203B41FA5}">
                      <a16:colId xmlns:a16="http://schemas.microsoft.com/office/drawing/2014/main" val="20002"/>
                    </a:ext>
                  </a:extLst>
                </a:gridCol>
                <a:gridCol w="1363494">
                  <a:extLst>
                    <a:ext uri="{9D8B030D-6E8A-4147-A177-3AD203B41FA5}">
                      <a16:colId xmlns:a16="http://schemas.microsoft.com/office/drawing/2014/main" val="20003"/>
                    </a:ext>
                  </a:extLst>
                </a:gridCol>
                <a:gridCol w="1239540">
                  <a:extLst>
                    <a:ext uri="{9D8B030D-6E8A-4147-A177-3AD203B41FA5}">
                      <a16:colId xmlns:a16="http://schemas.microsoft.com/office/drawing/2014/main" val="20004"/>
                    </a:ext>
                  </a:extLst>
                </a:gridCol>
              </a:tblGrid>
              <a:tr h="331546">
                <a:tc>
                  <a:txBody>
                    <a:bodyPr/>
                    <a:lstStyle/>
                    <a:p>
                      <a:pPr marL="0" indent="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Es/N0</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tc>
                  <a:txBody>
                    <a:bodyPr/>
                    <a:lstStyle/>
                    <a:p>
                      <a:pPr marL="0" indent="0" algn="r">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SER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tc>
                  <a:txBody>
                    <a:bodyPr/>
                    <a:lstStyle/>
                    <a:p>
                      <a:pPr marL="0" indent="0" algn="r">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Pilots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tc>
                  <a:txBody>
                    <a:bodyPr/>
                    <a:lstStyle/>
                    <a:p>
                      <a:pPr marL="0" indent="0" algn="r">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Payload</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tc>
                  <a:txBody>
                    <a:bodyPr/>
                    <a:lstStyle/>
                    <a:p>
                      <a:pPr marL="0" indent="0" algn="r">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Genie</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extLst>
                  <a:ext uri="{0D108BD9-81ED-4DB2-BD59-A6C34878D82A}">
                    <a16:rowId xmlns:a16="http://schemas.microsoft.com/office/drawing/2014/main" val="10000"/>
                  </a:ext>
                </a:extLst>
              </a:tr>
              <a:tr h="331546">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0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0.37</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4.9</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5.9</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10.6</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1546">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6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0.070</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8.4</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11.4</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12.6</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extLst>
                  <a:ext uri="{0D108BD9-81ED-4DB2-BD59-A6C34878D82A}">
                    <a16:rowId xmlns:a16="http://schemas.microsoft.com/office/drawing/2014/main" val="10002"/>
                  </a:ext>
                </a:extLst>
              </a:tr>
              <a:tr h="331546">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8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0.023</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9.1</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12.4</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12.9</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1546">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12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4.4e-4</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9.9</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13.2</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13.3</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extLst>
                  <a:ext uri="{0D108BD9-81ED-4DB2-BD59-A6C34878D82A}">
                    <a16:rowId xmlns:a16="http://schemas.microsoft.com/office/drawing/2014/main" val="10004"/>
                  </a:ext>
                </a:extLst>
              </a:tr>
              <a:tr h="331546">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20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10.5</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13.5</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13.5</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3"/>
          <p:cNvSpPr/>
          <p:nvPr/>
        </p:nvSpPr>
        <p:spPr>
          <a:xfrm>
            <a:off x="5181507" y="3822805"/>
            <a:ext cx="6383632"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Detection margin over the CFAR threshold, dB; SER is uncoded. Same received dwell for all three.</a:t>
            </a:r>
            <a:endParaRPr lang="en-US" sz="1200" dirty="0"/>
          </a:p>
        </p:txBody>
      </p:sp>
      <p:sp>
        <p:nvSpPr>
          <p:cNvPr id="8" name="Shape 4"/>
          <p:cNvSpPr/>
          <p:nvPr/>
        </p:nvSpPr>
        <p:spPr>
          <a:xfrm>
            <a:off x="5184682" y="4379658"/>
            <a:ext cx="1991801" cy="920765"/>
          </a:xfrm>
          <a:prstGeom prst="roundRect">
            <a:avLst>
              <a:gd name="adj" fmla="val 9310"/>
            </a:avLst>
          </a:prstGeom>
          <a:solidFill>
            <a:srgbClr val="FFFFFF"/>
          </a:solidFill>
          <a:ln w="6350">
            <a:solidFill>
              <a:srgbClr val="E2E0D9"/>
            </a:solidFill>
            <a:prstDash val="solid"/>
          </a:ln>
        </p:spPr>
        <p:txBody>
          <a:bodyPr/>
          <a:lstStyle/>
          <a:p>
            <a:endParaRPr lang="en-US"/>
          </a:p>
        </p:txBody>
      </p:sp>
      <p:sp>
        <p:nvSpPr>
          <p:cNvPr id="9" name="Text 5"/>
          <p:cNvSpPr/>
          <p:nvPr/>
        </p:nvSpPr>
        <p:spPr>
          <a:xfrm>
            <a:off x="5339694" y="4496538"/>
            <a:ext cx="1732576"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 +3 dB</a:t>
            </a:r>
            <a:endParaRPr lang="en-US" sz="1400" dirty="0"/>
          </a:p>
        </p:txBody>
      </p:sp>
      <p:sp>
        <p:nvSpPr>
          <p:cNvPr id="10" name="Text 6"/>
          <p:cNvSpPr/>
          <p:nvPr/>
        </p:nvSpPr>
        <p:spPr>
          <a:xfrm>
            <a:off x="5339694" y="4756851"/>
            <a:ext cx="1732576"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over pilots, from data already demodulated</a:t>
            </a:r>
            <a:endParaRPr lang="en-US" sz="1200" dirty="0"/>
          </a:p>
        </p:txBody>
      </p:sp>
      <p:sp>
        <p:nvSpPr>
          <p:cNvPr id="11" name="Shape 7"/>
          <p:cNvSpPr/>
          <p:nvPr/>
        </p:nvSpPr>
        <p:spPr>
          <a:xfrm>
            <a:off x="7284411" y="4379658"/>
            <a:ext cx="1991846" cy="920765"/>
          </a:xfrm>
          <a:prstGeom prst="roundRect">
            <a:avLst>
              <a:gd name="adj" fmla="val 9310"/>
            </a:avLst>
          </a:prstGeom>
          <a:solidFill>
            <a:srgbClr val="FFFFFF"/>
          </a:solidFill>
          <a:ln w="6350">
            <a:solidFill>
              <a:srgbClr val="E2E0D9"/>
            </a:solidFill>
            <a:prstDash val="solid"/>
          </a:ln>
        </p:spPr>
        <p:txBody>
          <a:bodyPr/>
          <a:lstStyle/>
          <a:p>
            <a:endParaRPr lang="en-US"/>
          </a:p>
        </p:txBody>
      </p:sp>
      <p:sp>
        <p:nvSpPr>
          <p:cNvPr id="12" name="Text 8"/>
          <p:cNvSpPr/>
          <p:nvPr/>
        </p:nvSpPr>
        <p:spPr>
          <a:xfrm>
            <a:off x="7439423" y="4496538"/>
            <a:ext cx="1732622"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 0.5 dB</a:t>
            </a:r>
            <a:endParaRPr lang="en-US" sz="1400" dirty="0"/>
          </a:p>
        </p:txBody>
      </p:sp>
      <p:sp>
        <p:nvSpPr>
          <p:cNvPr id="13" name="Text 9"/>
          <p:cNvSpPr/>
          <p:nvPr/>
        </p:nvSpPr>
        <p:spPr>
          <a:xfrm>
            <a:off x="7439423" y="4756851"/>
            <a:ext cx="1732622"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behind genie from 8 dB Es/N0 up</a:t>
            </a:r>
            <a:endParaRPr lang="en-US" sz="1200" dirty="0"/>
          </a:p>
        </p:txBody>
      </p:sp>
      <p:sp>
        <p:nvSpPr>
          <p:cNvPr id="14" name="Shape 10"/>
          <p:cNvSpPr/>
          <p:nvPr/>
        </p:nvSpPr>
        <p:spPr>
          <a:xfrm>
            <a:off x="9384186" y="4379658"/>
            <a:ext cx="1991846" cy="920765"/>
          </a:xfrm>
          <a:prstGeom prst="roundRect">
            <a:avLst>
              <a:gd name="adj" fmla="val 9310"/>
            </a:avLst>
          </a:prstGeom>
          <a:solidFill>
            <a:srgbClr val="FFFFFF"/>
          </a:solidFill>
          <a:ln w="6350">
            <a:solidFill>
              <a:srgbClr val="E2E0D9"/>
            </a:solidFill>
            <a:prstDash val="solid"/>
          </a:ln>
        </p:spPr>
        <p:txBody>
          <a:bodyPr/>
          <a:lstStyle/>
          <a:p>
            <a:endParaRPr lang="en-US"/>
          </a:p>
        </p:txBody>
      </p:sp>
      <p:sp>
        <p:nvSpPr>
          <p:cNvPr id="15" name="Text 11"/>
          <p:cNvSpPr/>
          <p:nvPr/>
        </p:nvSpPr>
        <p:spPr>
          <a:xfrm>
            <a:off x="9539198" y="4496538"/>
            <a:ext cx="1732622"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Knee at 6 dB</a:t>
            </a:r>
            <a:endParaRPr lang="en-US" sz="1400" dirty="0"/>
          </a:p>
        </p:txBody>
      </p:sp>
      <p:sp>
        <p:nvSpPr>
          <p:cNvPr id="16" name="Text 12"/>
          <p:cNvSpPr/>
          <p:nvPr/>
        </p:nvSpPr>
        <p:spPr>
          <a:xfrm>
            <a:off x="9539198" y="4756851"/>
            <a:ext cx="1732622"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 1 dB behind genie; design said 12</a:t>
            </a:r>
            <a:endParaRPr lang="en-US" sz="1200" dirty="0"/>
          </a:p>
        </p:txBody>
      </p:sp>
      <p:sp>
        <p:nvSpPr>
          <p:cNvPr id="17" name="Text 13"/>
          <p:cNvSpPr/>
          <p:nvPr/>
        </p:nvSpPr>
        <p:spPr>
          <a:xfrm>
            <a:off x="5181507" y="5430583"/>
            <a:ext cx="6383632"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Hard QPSK decisions, no LDPC decoding. Decoding first should move the knee lower: not yet measured.</a:t>
            </a:r>
            <a:endParaRPr lang="en-US" sz="1200" dirty="0"/>
          </a:p>
        </p:txBody>
      </p:sp>
      <p:sp>
        <p:nvSpPr>
          <p:cNvPr id="18" name="Text 14"/>
          <p:cNvSpPr/>
          <p:nvPr/>
        </p:nvSpPr>
        <p:spPr>
          <a:xfrm>
            <a:off x="812765" y="6238273"/>
            <a:ext cx="7848582"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NTN ISAC in GNU Radio · GRCon 2026</a:t>
            </a:r>
            <a:endParaRPr lang="en-US" sz="1200" dirty="0"/>
          </a:p>
        </p:txBody>
      </p:sp>
      <p:sp>
        <p:nvSpPr>
          <p:cNvPr id="19" name="Text 15"/>
          <p:cNvSpPr/>
          <p:nvPr/>
        </p:nvSpPr>
        <p:spPr>
          <a:xfrm>
            <a:off x="10058426" y="6238273"/>
            <a:ext cx="1320782"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34" charset="0"/>
                <a:ea typeface="JetBrains Mono" pitchFamily="34" charset="-122"/>
                <a:cs typeface="JetBrains Mono" pitchFamily="34" charset="-120"/>
              </a:rPr>
              <a:t>16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DETECTION BLOCKS</a:t>
            </a:r>
            <a:endParaRPr lang="en-US" sz="1200" dirty="0"/>
          </a:p>
        </p:txBody>
      </p:sp>
      <p:sp>
        <p:nvSpPr>
          <p:cNvPr id="3" name="Text 1"/>
          <p:cNvSpPr/>
          <p:nvPr/>
        </p:nvSpPr>
        <p:spPr>
          <a:xfrm>
            <a:off x="812765" y="1071811"/>
            <a:ext cx="10883436" cy="416543"/>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72030"/>
                </a:solidFill>
                <a:latin typeface="IBM Plex Sans" pitchFamily="34" charset="0"/>
                <a:ea typeface="IBM Plex Sans" pitchFamily="34" charset="-122"/>
                <a:cs typeface="IBM Plex Sans" pitchFamily="34" charset="-120"/>
              </a:rPr>
              <a:t>Two stages: SSB Coarse finds, Grid Sense refines</a:t>
            </a:r>
            <a:endParaRPr lang="en-US" sz="2800" dirty="0"/>
          </a:p>
        </p:txBody>
      </p:sp>
      <p:sp>
        <p:nvSpPr>
          <p:cNvPr id="4" name="Shape 2"/>
          <p:cNvSpPr/>
          <p:nvPr/>
        </p:nvSpPr>
        <p:spPr>
          <a:xfrm>
            <a:off x="819115" y="1905409"/>
            <a:ext cx="4330183" cy="1593991"/>
          </a:xfrm>
          <a:prstGeom prst="roundRect">
            <a:avLst>
              <a:gd name="adj" fmla="val 5179"/>
            </a:avLst>
          </a:prstGeom>
          <a:solidFill>
            <a:srgbClr val="FFFFFF"/>
          </a:solidFill>
          <a:ln w="12700">
            <a:solidFill>
              <a:srgbClr val="B34E1B"/>
            </a:solidFill>
            <a:prstDash val="solid"/>
          </a:ln>
        </p:spPr>
        <p:txBody>
          <a:bodyPr/>
          <a:lstStyle/>
          <a:p>
            <a:endParaRPr lang="en-US"/>
          </a:p>
        </p:txBody>
      </p:sp>
      <p:sp>
        <p:nvSpPr>
          <p:cNvPr id="5" name="Text 3"/>
          <p:cNvSpPr/>
          <p:nvPr/>
        </p:nvSpPr>
        <p:spPr>
          <a:xfrm>
            <a:off x="1027516" y="2113818"/>
            <a:ext cx="4030783"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SSB Coarse (stage 1)</a:t>
            </a:r>
            <a:endParaRPr lang="en-US" sz="1400" dirty="0"/>
          </a:p>
        </p:txBody>
      </p:sp>
      <p:sp>
        <p:nvSpPr>
          <p:cNvPr id="6" name="Text 4"/>
          <p:cNvSpPr/>
          <p:nvPr/>
        </p:nvSpPr>
        <p:spPr>
          <a:xfrm>
            <a:off x="1205316" y="2437619"/>
            <a:ext cx="3847649" cy="878787"/>
          </a:xfrm>
          <a:prstGeom prst="rect">
            <a:avLst/>
          </a:prstGeom>
          <a:noFill/>
          <a:ln/>
        </p:spPr>
        <p:txBody>
          <a:bodyPr wrap="square" lIns="0" tIns="0" rIns="0" bIns="0" rtlCol="0" anchor="t">
            <a:normAutofit/>
          </a:bodyPr>
          <a:lstStyle/>
          <a:p>
            <a:pPr marL="182880" indent="-155194" algn="l">
              <a:lnSpc>
                <a:spcPts val="1680"/>
              </a:lnSpc>
              <a:buSzPct val="100000"/>
              <a:buChar char="•"/>
            </a:pPr>
            <a:r>
              <a:rPr lang="en-US" sz="1200" dirty="0">
                <a:solidFill>
                  <a:srgbClr val="465264"/>
                </a:solidFill>
                <a:latin typeface="IBM Plex Sans" pitchFamily="34" charset="0"/>
                <a:ea typeface="IBM Plex Sans" pitchFamily="34" charset="-122"/>
                <a:cs typeface="IBM Plex Sans" pitchFamily="34" charset="-120"/>
              </a:rPr>
              <a:t>Uses only the SSB: one every 20 ms</a:t>
            </a:r>
            <a:endParaRPr lang="en-US" sz="1200" dirty="0"/>
          </a:p>
          <a:p>
            <a:pPr marL="182880" indent="-155194" algn="l">
              <a:lnSpc>
                <a:spcPts val="1680"/>
              </a:lnSpc>
              <a:buSzPct val="100000"/>
              <a:buChar char="•"/>
            </a:pPr>
            <a:r>
              <a:rPr lang="en-US" sz="1200" dirty="0">
                <a:solidFill>
                  <a:srgbClr val="465264"/>
                </a:solidFill>
                <a:latin typeface="IBM Plex Sans" pitchFamily="34" charset="0"/>
                <a:ea typeface="IBM Plex Sans" pitchFamily="34" charset="-122"/>
                <a:cs typeface="IBM Plex Sans" pitchFamily="34" charset="-120"/>
              </a:rPr>
              <a:t>Cheap, runs on every dwell: 82 ms per 100 ms dwell in Python</a:t>
            </a:r>
            <a:endParaRPr lang="en-US" sz="1200" dirty="0"/>
          </a:p>
          <a:p>
            <a:pPr marL="182880" indent="-155194" algn="l">
              <a:lnSpc>
                <a:spcPts val="1680"/>
              </a:lnSpc>
              <a:buSzPct val="100000"/>
              <a:buChar char="•"/>
            </a:pPr>
            <a:r>
              <a:rPr lang="en-US" sz="1200" dirty="0">
                <a:solidFill>
                  <a:srgbClr val="465264"/>
                </a:solidFill>
                <a:latin typeface="IBM Plex Sans" pitchFamily="34" charset="0"/>
                <a:ea typeface="IBM Plex Sans" pitchFamily="34" charset="-122"/>
                <a:cs typeface="IBM Plex Sans" pitchFamily="34" charset="-120"/>
              </a:rPr>
              <a:t>Publishes a range gate as “coarse”</a:t>
            </a:r>
            <a:endParaRPr lang="en-US" sz="1200" dirty="0"/>
          </a:p>
        </p:txBody>
      </p:sp>
      <p:sp>
        <p:nvSpPr>
          <p:cNvPr id="7" name="Text 5"/>
          <p:cNvSpPr/>
          <p:nvPr/>
        </p:nvSpPr>
        <p:spPr>
          <a:xfrm>
            <a:off x="5319593" y="1861753"/>
            <a:ext cx="1564381" cy="238747"/>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B34E1B"/>
                </a:solidFill>
                <a:latin typeface="IBM Plex Sans" pitchFamily="34" charset="0"/>
                <a:ea typeface="IBM Plex Sans" pitchFamily="34" charset="-122"/>
                <a:cs typeface="IBM Plex Sans" pitchFamily="34" charset="-120"/>
              </a:rPr>
              <a:t>coarse: where to look</a:t>
            </a:r>
            <a:endParaRPr lang="en-US" sz="1200" dirty="0"/>
          </a:p>
        </p:txBody>
      </p:sp>
      <p:pic>
        <p:nvPicPr>
          <p:cNvPr id="8" name="Image 0" descr="arrow-right"/>
          <p:cNvPicPr>
            <a:picLocks noChangeAspect="1"/>
          </p:cNvPicPr>
          <p:nvPr/>
        </p:nvPicPr>
        <p:blipFill>
          <a:blip r:embed="rId3"/>
          <a:srcRect l="-3" r="-3"/>
          <a:stretch/>
        </p:blipFill>
        <p:spPr>
          <a:xfrm>
            <a:off x="5695378" y="2151273"/>
            <a:ext cx="812765" cy="406360"/>
          </a:xfrm>
          <a:prstGeom prst="rect">
            <a:avLst/>
          </a:prstGeom>
        </p:spPr>
      </p:pic>
      <p:pic>
        <p:nvPicPr>
          <p:cNvPr id="9" name="Image 1" descr="arrow-left"/>
          <p:cNvPicPr>
            <a:picLocks noChangeAspect="1"/>
          </p:cNvPicPr>
          <p:nvPr/>
        </p:nvPicPr>
        <p:blipFill>
          <a:blip r:embed="rId4"/>
          <a:srcRect l="-3" r="-3"/>
          <a:stretch/>
        </p:blipFill>
        <p:spPr>
          <a:xfrm>
            <a:off x="5695378" y="2633799"/>
            <a:ext cx="812765" cy="406360"/>
          </a:xfrm>
          <a:prstGeom prst="rect">
            <a:avLst/>
          </a:prstGeom>
        </p:spPr>
      </p:pic>
      <p:sp>
        <p:nvSpPr>
          <p:cNvPr id="10" name="Text 6"/>
          <p:cNvSpPr/>
          <p:nvPr/>
        </p:nvSpPr>
        <p:spPr>
          <a:xfrm>
            <a:off x="5282638" y="3116337"/>
            <a:ext cx="1638289" cy="452094"/>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2A5B9C"/>
                </a:solidFill>
                <a:latin typeface="IBM Plex Sans" pitchFamily="34" charset="0"/>
                <a:ea typeface="IBM Plex Sans" pitchFamily="34" charset="-122"/>
                <a:cs typeface="IBM Plex Sans" pitchFamily="34" charset="-120"/>
              </a:rPr>
              <a:t>refine: the real Doppler</a:t>
            </a:r>
            <a:endParaRPr lang="en-US" sz="1200" dirty="0"/>
          </a:p>
        </p:txBody>
      </p:sp>
      <p:sp>
        <p:nvSpPr>
          <p:cNvPr id="11" name="Shape 7"/>
          <p:cNvSpPr/>
          <p:nvPr/>
        </p:nvSpPr>
        <p:spPr>
          <a:xfrm>
            <a:off x="7051093" y="1694693"/>
            <a:ext cx="4324939" cy="2015441"/>
          </a:xfrm>
          <a:prstGeom prst="roundRect">
            <a:avLst>
              <a:gd name="adj" fmla="val 4253"/>
            </a:avLst>
          </a:prstGeom>
          <a:solidFill>
            <a:srgbClr val="FFFFFF"/>
          </a:solidFill>
          <a:ln w="6350">
            <a:solidFill>
              <a:srgbClr val="E2E0D9"/>
            </a:solidFill>
            <a:prstDash val="solid"/>
          </a:ln>
        </p:spPr>
        <p:txBody>
          <a:bodyPr/>
          <a:lstStyle/>
          <a:p>
            <a:endParaRPr lang="en-US"/>
          </a:p>
        </p:txBody>
      </p:sp>
      <p:sp>
        <p:nvSpPr>
          <p:cNvPr id="12" name="Text 8"/>
          <p:cNvSpPr/>
          <p:nvPr/>
        </p:nvSpPr>
        <p:spPr>
          <a:xfrm>
            <a:off x="7256872" y="1900473"/>
            <a:ext cx="4030783"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Grid Sense (stage 2)</a:t>
            </a:r>
            <a:endParaRPr lang="en-US" sz="1400" dirty="0"/>
          </a:p>
        </p:txBody>
      </p:sp>
      <p:sp>
        <p:nvSpPr>
          <p:cNvPr id="13" name="Text 9"/>
          <p:cNvSpPr/>
          <p:nvPr/>
        </p:nvSpPr>
        <p:spPr>
          <a:xfrm>
            <a:off x="7434672" y="2224274"/>
            <a:ext cx="3847649" cy="1305481"/>
          </a:xfrm>
          <a:prstGeom prst="rect">
            <a:avLst/>
          </a:prstGeom>
          <a:noFill/>
          <a:ln/>
        </p:spPr>
        <p:txBody>
          <a:bodyPr wrap="square" lIns="0" tIns="0" rIns="0" bIns="0" rtlCol="0" anchor="t">
            <a:normAutofit/>
          </a:bodyPr>
          <a:lstStyle/>
          <a:p>
            <a:pPr marL="182880" indent="-155194" algn="l">
              <a:lnSpc>
                <a:spcPts val="1680"/>
              </a:lnSpc>
              <a:buSzPct val="100000"/>
              <a:buChar char="•"/>
            </a:pPr>
            <a:r>
              <a:rPr lang="en-US" sz="1200" dirty="0">
                <a:solidFill>
                  <a:srgbClr val="465264"/>
                </a:solidFill>
                <a:latin typeface="IBM Plex Sans" pitchFamily="34" charset="0"/>
                <a:ea typeface="IBM Plex Sans" pitchFamily="34" charset="-122"/>
                <a:cs typeface="IBM Plex Sans" pitchFamily="34" charset="-120"/>
              </a:rPr>
              <a:t>Full grid and payload-aided reference, inside the gate</a:t>
            </a:r>
            <a:endParaRPr lang="en-US" sz="1200" dirty="0"/>
          </a:p>
          <a:p>
            <a:pPr marL="182880" indent="-155194" algn="l">
              <a:lnSpc>
                <a:spcPts val="1680"/>
              </a:lnSpc>
              <a:buSzPct val="100000"/>
              <a:buChar char="•"/>
            </a:pPr>
            <a:r>
              <a:rPr lang="en-US" sz="1200" dirty="0">
                <a:solidFill>
                  <a:srgbClr val="465264"/>
                </a:solidFill>
                <a:latin typeface="IBM Plex Sans" pitchFamily="34" charset="0"/>
                <a:ea typeface="IBM Plex Sans" pitchFamily="34" charset="-122"/>
                <a:cs typeface="IBM Plex Sans" pitchFamily="34" charset="-120"/>
              </a:rPr>
              <a:t>Expensive, 1 dwell in N: about 480 ms per 100 ms dwell in Python</a:t>
            </a:r>
            <a:endParaRPr lang="en-US" sz="1200" dirty="0"/>
          </a:p>
          <a:p>
            <a:pPr marL="182880" indent="-155194" algn="l">
              <a:lnSpc>
                <a:spcPts val="1680"/>
              </a:lnSpc>
              <a:buSzPct val="100000"/>
              <a:buChar char="•"/>
            </a:pPr>
            <a:r>
              <a:rPr lang="en-US" sz="1200" dirty="0">
                <a:solidFill>
                  <a:srgbClr val="465264"/>
                </a:solidFill>
                <a:latin typeface="IBM Plex Sans" pitchFamily="34" charset="0"/>
                <a:ea typeface="IBM Plex Sans" pitchFamily="34" charset="-122"/>
                <a:cs typeface="IBM Plex Sans" pitchFamily="34" charset="-120"/>
              </a:rPr>
              <a:t>Publishes detections as “sense”, and “refine” back to stage 1</a:t>
            </a:r>
            <a:endParaRPr lang="en-US" sz="1200" dirty="0"/>
          </a:p>
        </p:txBody>
      </p:sp>
      <p:sp>
        <p:nvSpPr>
          <p:cNvPr id="14" name="Shape 10"/>
          <p:cNvSpPr/>
          <p:nvPr/>
        </p:nvSpPr>
        <p:spPr>
          <a:xfrm>
            <a:off x="815940" y="3945049"/>
            <a:ext cx="10560093" cy="1009708"/>
          </a:xfrm>
          <a:prstGeom prst="roundRect">
            <a:avLst>
              <a:gd name="adj" fmla="val 8490"/>
            </a:avLst>
          </a:prstGeom>
          <a:solidFill>
            <a:srgbClr val="FFFFFF"/>
          </a:solidFill>
          <a:ln w="6350">
            <a:solidFill>
              <a:srgbClr val="E2E0D9"/>
            </a:solidFill>
            <a:prstDash val="solid"/>
          </a:ln>
        </p:spPr>
        <p:txBody>
          <a:bodyPr/>
          <a:lstStyle/>
          <a:p>
            <a:endParaRPr lang="en-US"/>
          </a:p>
        </p:txBody>
      </p:sp>
      <p:sp>
        <p:nvSpPr>
          <p:cNvPr id="15" name="Text 11"/>
          <p:cNvSpPr/>
          <p:nvPr/>
        </p:nvSpPr>
        <p:spPr>
          <a:xfrm>
            <a:off x="996358" y="4100054"/>
            <a:ext cx="10505233"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Why the loop runs both ways</a:t>
            </a:r>
            <a:endParaRPr lang="en-US" sz="1400" dirty="0"/>
          </a:p>
        </p:txBody>
      </p:sp>
      <p:sp>
        <p:nvSpPr>
          <p:cNvPr id="16" name="Text 12"/>
          <p:cNvSpPr/>
          <p:nvPr/>
        </p:nvSpPr>
        <p:spPr>
          <a:xfrm>
            <a:off x="996358" y="4373042"/>
            <a:ext cx="10505233"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One SSB every 20 ms samples the target's phase at 50 Hz, so stage 1 alone is ambiguous beyond ±25 Hz: a −31.5 Hz target reads +18.5 Hz. Stage 2's answer fixes it in 1 dwell (±0.04 Hz), against about 4 dwells without it.</a:t>
            </a:r>
            <a:endParaRPr lang="en-US" sz="1200" dirty="0"/>
          </a:p>
        </p:txBody>
      </p:sp>
      <p:sp>
        <p:nvSpPr>
          <p:cNvPr id="17" name="Text 13"/>
          <p:cNvSpPr/>
          <p:nvPr/>
        </p:nvSpPr>
        <p:spPr>
          <a:xfrm>
            <a:off x="812765" y="6238280"/>
            <a:ext cx="7848582"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NTN ISAC in GNU Radio · GRCon 2026</a:t>
            </a:r>
            <a:endParaRPr lang="en-US" sz="1200" dirty="0"/>
          </a:p>
        </p:txBody>
      </p:sp>
      <p:sp>
        <p:nvSpPr>
          <p:cNvPr id="18" name="Text 14"/>
          <p:cNvSpPr/>
          <p:nvPr/>
        </p:nvSpPr>
        <p:spPr>
          <a:xfrm>
            <a:off x="10058426" y="6238280"/>
            <a:ext cx="1320782"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34" charset="0"/>
                <a:ea typeface="JetBrains Mono" pitchFamily="34" charset="-122"/>
                <a:cs typeface="JetBrains Mono" pitchFamily="34" charset="-120"/>
              </a:rPr>
              <a:t>17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IN GNU RADIO</a:t>
            </a:r>
            <a:endParaRPr lang="en-US" sz="1200" dirty="0"/>
          </a:p>
        </p:txBody>
      </p:sp>
      <p:sp>
        <p:nvSpPr>
          <p:cNvPr id="3" name="Text 1"/>
          <p:cNvSpPr/>
          <p:nvPr/>
        </p:nvSpPr>
        <p:spPr>
          <a:xfrm>
            <a:off x="812765" y="1071811"/>
            <a:ext cx="10883436" cy="416543"/>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72030"/>
                </a:solidFill>
                <a:latin typeface="IBM Plex Sans" pitchFamily="34" charset="0"/>
                <a:ea typeface="IBM Plex Sans" pitchFamily="34" charset="-122"/>
                <a:cs typeface="IBM Plex Sans" pitchFamily="34" charset="-120"/>
              </a:rPr>
              <a:t>The whole chain on one GRC canvas</a:t>
            </a:r>
            <a:endParaRPr lang="en-US" sz="2800" dirty="0"/>
          </a:p>
        </p:txBody>
      </p:sp>
      <p:pic>
        <p:nvPicPr>
          <p:cNvPr id="4" name="Image 0" descr="The ntnisac_ota_bench flowgraph: File Source, LEO Channel, Es/N0 Noise and LEO Truth feeding OTA Sense, SSB Coarse and Grid Sense, with CLEAN on in OTA Sense and Grid Sense, and Message Print sinks"/>
          <p:cNvPicPr>
            <a:picLocks noChangeAspect="1"/>
          </p:cNvPicPr>
          <p:nvPr/>
        </p:nvPicPr>
        <p:blipFill>
          <a:blip r:embed="rId3"/>
          <a:srcRect l="-107" r="-107"/>
          <a:stretch/>
        </p:blipFill>
        <p:spPr>
          <a:xfrm>
            <a:off x="819115" y="1697856"/>
            <a:ext cx="6972269" cy="3200364"/>
          </a:xfrm>
          <a:prstGeom prst="roundRect">
            <a:avLst>
              <a:gd name="adj" fmla="val 2183"/>
            </a:avLst>
          </a:prstGeom>
        </p:spPr>
      </p:pic>
      <p:sp>
        <p:nvSpPr>
          <p:cNvPr id="5" name="Shape 2"/>
          <p:cNvSpPr/>
          <p:nvPr/>
        </p:nvSpPr>
        <p:spPr>
          <a:xfrm>
            <a:off x="815940" y="1694681"/>
            <a:ext cx="6978619" cy="3206714"/>
          </a:xfrm>
          <a:prstGeom prst="roundRect">
            <a:avLst>
              <a:gd name="adj" fmla="val 2277"/>
            </a:avLst>
          </a:prstGeom>
          <a:noFill/>
          <a:ln w="6350">
            <a:solidFill>
              <a:srgbClr val="E2E0D9"/>
            </a:solidFill>
            <a:prstDash val="solid"/>
          </a:ln>
        </p:spPr>
        <p:txBody>
          <a:bodyPr/>
          <a:lstStyle/>
          <a:p>
            <a:endParaRPr lang="en-US"/>
          </a:p>
        </p:txBody>
      </p:sp>
      <p:sp>
        <p:nvSpPr>
          <p:cNvPr id="6" name="Shape 3"/>
          <p:cNvSpPr/>
          <p:nvPr/>
        </p:nvSpPr>
        <p:spPr>
          <a:xfrm>
            <a:off x="8058053" y="1697856"/>
            <a:ext cx="3314804" cy="1228298"/>
          </a:xfrm>
          <a:prstGeom prst="roundRect">
            <a:avLst>
              <a:gd name="adj" fmla="val 6721"/>
            </a:avLst>
          </a:prstGeom>
          <a:solidFill>
            <a:srgbClr val="FFFFFF"/>
          </a:solidFill>
          <a:ln w="12700">
            <a:solidFill>
              <a:srgbClr val="B34E1B"/>
            </a:solidFill>
            <a:prstDash val="solid"/>
          </a:ln>
        </p:spPr>
        <p:txBody>
          <a:bodyPr/>
          <a:lstStyle/>
          <a:p>
            <a:endParaRPr lang="en-US"/>
          </a:p>
        </p:txBody>
      </p:sp>
      <p:sp>
        <p:nvSpPr>
          <p:cNvPr id="7" name="Text 4"/>
          <p:cNvSpPr/>
          <p:nvPr/>
        </p:nvSpPr>
        <p:spPr>
          <a:xfrm>
            <a:off x="8241093" y="1855490"/>
            <a:ext cx="3037186"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What CLEAN does</a:t>
            </a:r>
            <a:endParaRPr lang="en-US" sz="1400" dirty="0"/>
          </a:p>
        </p:txBody>
      </p:sp>
      <p:sp>
        <p:nvSpPr>
          <p:cNvPr id="8" name="Text 5"/>
          <p:cNvSpPr/>
          <p:nvPr/>
        </p:nvSpPr>
        <p:spPr>
          <a:xfrm>
            <a:off x="8241093" y="2128490"/>
            <a:ext cx="3037186" cy="6654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Finds the direct path's delay, Doppler and gain, then subtracts its known shape from the map.</a:t>
            </a:r>
            <a:endParaRPr lang="en-US" sz="1200" dirty="0"/>
          </a:p>
        </p:txBody>
      </p:sp>
      <p:sp>
        <p:nvSpPr>
          <p:cNvPr id="9" name="Shape 6"/>
          <p:cNvSpPr/>
          <p:nvPr/>
        </p:nvSpPr>
        <p:spPr>
          <a:xfrm>
            <a:off x="8054878" y="3062672"/>
            <a:ext cx="3321154" cy="1436402"/>
          </a:xfrm>
          <a:prstGeom prst="roundRect">
            <a:avLst>
              <a:gd name="adj" fmla="val 5968"/>
            </a:avLst>
          </a:prstGeom>
          <a:solidFill>
            <a:srgbClr val="FFFFFF"/>
          </a:solidFill>
          <a:ln w="6350">
            <a:solidFill>
              <a:srgbClr val="E2E0D9"/>
            </a:solidFill>
            <a:prstDash val="solid"/>
          </a:ln>
        </p:spPr>
        <p:txBody>
          <a:bodyPr/>
          <a:lstStyle/>
          <a:p>
            <a:endParaRPr lang="en-US"/>
          </a:p>
        </p:txBody>
      </p:sp>
      <p:sp>
        <p:nvSpPr>
          <p:cNvPr id="10" name="Text 7"/>
          <p:cNvSpPr/>
          <p:nvPr/>
        </p:nvSpPr>
        <p:spPr>
          <a:xfrm>
            <a:off x="8235297" y="3217676"/>
            <a:ext cx="3049127"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Why we need it</a:t>
            </a:r>
            <a:endParaRPr lang="en-US" sz="1400" dirty="0"/>
          </a:p>
        </p:txBody>
      </p:sp>
      <p:sp>
        <p:nvSpPr>
          <p:cNvPr id="11" name="Text 8"/>
          <p:cNvSpPr/>
          <p:nvPr/>
        </p:nvSpPr>
        <p:spPr>
          <a:xfrm>
            <a:off x="8235297" y="3490677"/>
            <a:ext cx="3049127" cy="87878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The direct path is up to a million times (60 dB) stronger than the echoes we want, and its sidelobes are structure, not noise: a detection threshold cannot remove them.</a:t>
            </a:r>
            <a:endParaRPr lang="en-US" sz="1200" dirty="0"/>
          </a:p>
        </p:txBody>
      </p:sp>
      <p:sp>
        <p:nvSpPr>
          <p:cNvPr id="12" name="Text 9"/>
          <p:cNvSpPr/>
          <p:nvPr/>
        </p:nvSpPr>
        <p:spPr>
          <a:xfrm>
            <a:off x="8051703" y="4629237"/>
            <a:ext cx="3427329"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On in both blocks here: OTA Sense (2 taps) and Grid Sense (1 tap). Runs on a laptop, no radio.</a:t>
            </a:r>
            <a:endParaRPr lang="en-US" sz="1200" dirty="0"/>
          </a:p>
        </p:txBody>
      </p:sp>
      <p:sp>
        <p:nvSpPr>
          <p:cNvPr id="13" name="Text 10"/>
          <p:cNvSpPr/>
          <p:nvPr/>
        </p:nvSpPr>
        <p:spPr>
          <a:xfrm>
            <a:off x="812765" y="6238280"/>
            <a:ext cx="7848582"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NTN ISAC in GNU Radio · GRCon 2026</a:t>
            </a:r>
            <a:endParaRPr lang="en-US" sz="1200" dirty="0"/>
          </a:p>
        </p:txBody>
      </p:sp>
      <p:sp>
        <p:nvSpPr>
          <p:cNvPr id="14" name="Text 11"/>
          <p:cNvSpPr/>
          <p:nvPr/>
        </p:nvSpPr>
        <p:spPr>
          <a:xfrm>
            <a:off x="10058426" y="6238280"/>
            <a:ext cx="1320782"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34" charset="0"/>
                <a:ea typeface="JetBrains Mono" pitchFamily="34" charset="-122"/>
                <a:cs typeface="JetBrains Mono" pitchFamily="34" charset="-120"/>
              </a:rPr>
              <a:t>18</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ON REAL RADIOS</a:t>
            </a:r>
            <a:endParaRPr lang="en-US" sz="1200" dirty="0"/>
          </a:p>
        </p:txBody>
      </p:sp>
      <p:sp>
        <p:nvSpPr>
          <p:cNvPr id="3" name="Text 1"/>
          <p:cNvSpPr/>
          <p:nvPr/>
        </p:nvSpPr>
        <p:spPr>
          <a:xfrm>
            <a:off x="812765" y="1071798"/>
            <a:ext cx="10883436" cy="416543"/>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72030"/>
                </a:solidFill>
                <a:latin typeface="IBM Plex Sans" pitchFamily="34" charset="0"/>
                <a:ea typeface="IBM Plex Sans" pitchFamily="34" charset="-122"/>
                <a:cs typeface="IBM Plex Sans" pitchFamily="34" charset="-120"/>
              </a:rPr>
              <a:t>Two laptops, two USRP B200s, one cable</a:t>
            </a:r>
            <a:endParaRPr lang="en-US" sz="2800" dirty="0"/>
          </a:p>
        </p:txBody>
      </p:sp>
      <p:pic>
        <p:nvPicPr>
          <p:cNvPr id="4" name="Image 0" descr="Top view of the two USRP B200 boards cabled through attenuators to a 4-way splitter"/>
          <p:cNvPicPr>
            <a:picLocks noChangeAspect="1"/>
          </p:cNvPicPr>
          <p:nvPr/>
        </p:nvPicPr>
        <p:blipFill>
          <a:blip r:embed="rId3"/>
          <a:srcRect l="2688" r="2688"/>
          <a:stretch/>
        </p:blipFill>
        <p:spPr>
          <a:xfrm>
            <a:off x="812765" y="1691506"/>
            <a:ext cx="2793979" cy="3936976"/>
          </a:xfrm>
          <a:prstGeom prst="roundRect">
            <a:avLst>
              <a:gd name="adj" fmla="val 2727"/>
            </a:avLst>
          </a:prstGeom>
        </p:spPr>
      </p:pic>
      <p:pic>
        <p:nvPicPr>
          <p:cNvPr id="5" name="Image 1" descr="TX laptop flowgraph: File Source, LEO Channel, Multiply Const, USRP Sink. RX laptop: USRP Source into OTA Sense, SSB Coarse and Grid Sense, with ZMQ PUB sinks"/>
          <p:cNvPicPr>
            <a:picLocks noChangeAspect="1"/>
          </p:cNvPicPr>
          <p:nvPr/>
        </p:nvPicPr>
        <p:blipFill>
          <a:blip r:embed="rId4"/>
          <a:srcRect l="-85" r="-85"/>
          <a:stretch/>
        </p:blipFill>
        <p:spPr>
          <a:xfrm>
            <a:off x="3867063" y="1697856"/>
            <a:ext cx="7505659" cy="2997162"/>
          </a:xfrm>
          <a:prstGeom prst="roundRect">
            <a:avLst>
              <a:gd name="adj" fmla="val 2331"/>
            </a:avLst>
          </a:prstGeom>
        </p:spPr>
      </p:pic>
      <p:sp>
        <p:nvSpPr>
          <p:cNvPr id="6" name="Shape 2"/>
          <p:cNvSpPr/>
          <p:nvPr/>
        </p:nvSpPr>
        <p:spPr>
          <a:xfrm>
            <a:off x="3863888" y="1694681"/>
            <a:ext cx="7512009" cy="3003512"/>
          </a:xfrm>
          <a:prstGeom prst="roundRect">
            <a:avLst>
              <a:gd name="adj" fmla="val 2431"/>
            </a:avLst>
          </a:prstGeom>
          <a:noFill/>
          <a:ln w="6350">
            <a:solidFill>
              <a:srgbClr val="E2E0D9"/>
            </a:solidFill>
            <a:prstDash val="solid"/>
          </a:ln>
        </p:spPr>
        <p:txBody>
          <a:bodyPr/>
          <a:lstStyle/>
          <a:p>
            <a:endParaRPr lang="en-US"/>
          </a:p>
        </p:txBody>
      </p:sp>
      <p:sp>
        <p:nvSpPr>
          <p:cNvPr id="7" name="Text 3"/>
          <p:cNvSpPr/>
          <p:nvPr/>
        </p:nvSpPr>
        <p:spPr>
          <a:xfrm>
            <a:off x="3860713" y="4828356"/>
            <a:ext cx="7744049"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Conducted over coax, attenuators and a splitter at 2478 MHz (ISM). Master clock 30.72 MHz. Each B200 on its own GPSDO, with a GPS-timed start epoch.</a:t>
            </a:r>
            <a:endParaRPr lang="en-US" sz="1200" dirty="0"/>
          </a:p>
        </p:txBody>
      </p:sp>
      <p:sp>
        <p:nvSpPr>
          <p:cNvPr id="8" name="Text 4"/>
          <p:cNvSpPr/>
          <p:nvPr/>
        </p:nvSpPr>
        <p:spPr>
          <a:xfrm>
            <a:off x="812765" y="6238267"/>
            <a:ext cx="7848582"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NTN ISAC in GNU Radio · GRCon 2026</a:t>
            </a:r>
            <a:endParaRPr lang="en-US" sz="1200" dirty="0"/>
          </a:p>
        </p:txBody>
      </p:sp>
      <p:sp>
        <p:nvSpPr>
          <p:cNvPr id="9" name="Text 5"/>
          <p:cNvSpPr/>
          <p:nvPr/>
        </p:nvSpPr>
        <p:spPr>
          <a:xfrm>
            <a:off x="10058426" y="6238267"/>
            <a:ext cx="1320782"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34" charset="0"/>
                <a:ea typeface="JetBrains Mono" pitchFamily="34" charset="-122"/>
                <a:cs typeface="JetBrains Mono" pitchFamily="34" charset="-120"/>
              </a:rPr>
              <a:t>19</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75"/>
            <a:ext cx="10883436"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RESULTS OVER ZMQ</a:t>
            </a:r>
            <a:endParaRPr lang="en-US" sz="1200" dirty="0"/>
          </a:p>
        </p:txBody>
      </p:sp>
      <p:sp>
        <p:nvSpPr>
          <p:cNvPr id="3" name="Text 1"/>
          <p:cNvSpPr/>
          <p:nvPr/>
        </p:nvSpPr>
        <p:spPr>
          <a:xfrm>
            <a:off x="812765" y="1071811"/>
            <a:ext cx="10883436" cy="416543"/>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72030"/>
                </a:solidFill>
                <a:latin typeface="IBM Plex Sans" pitchFamily="34" charset="0"/>
                <a:ea typeface="IBM Plex Sans" pitchFamily="34" charset="-122"/>
                <a:cs typeface="IBM Plex Sans" pitchFamily="34" charset="-120"/>
              </a:rPr>
              <a:t>What the blocks publish, dwell by dwell</a:t>
            </a:r>
            <a:endParaRPr lang="en-US" sz="2800" dirty="0"/>
          </a:p>
        </p:txBody>
      </p:sp>
      <p:pic>
        <p:nvPicPr>
          <p:cNvPr id="4" name="Image 0" descr="Sensing dashboard replayed from a real conducted capture: maps before and after CLEAN, micro-Doppler profile, and cancellation per dwell"/>
          <p:cNvPicPr>
            <a:picLocks noChangeAspect="1"/>
          </p:cNvPicPr>
          <p:nvPr/>
        </p:nvPicPr>
        <p:blipFill>
          <a:blip r:embed="rId3"/>
          <a:srcRect l="-61" r="-61"/>
          <a:stretch/>
        </p:blipFill>
        <p:spPr>
          <a:xfrm>
            <a:off x="819115" y="1697868"/>
            <a:ext cx="6457945" cy="4051261"/>
          </a:xfrm>
          <a:prstGeom prst="roundRect">
            <a:avLst>
              <a:gd name="adj" fmla="val 1724"/>
            </a:avLst>
          </a:prstGeom>
        </p:spPr>
      </p:pic>
      <p:sp>
        <p:nvSpPr>
          <p:cNvPr id="5" name="Shape 2"/>
          <p:cNvSpPr/>
          <p:nvPr/>
        </p:nvSpPr>
        <p:spPr>
          <a:xfrm>
            <a:off x="815940" y="1694693"/>
            <a:ext cx="6464295" cy="4057611"/>
          </a:xfrm>
          <a:prstGeom prst="roundRect">
            <a:avLst>
              <a:gd name="adj" fmla="val 1800"/>
            </a:avLst>
          </a:prstGeom>
          <a:noFill/>
          <a:ln w="6350">
            <a:solidFill>
              <a:srgbClr val="E2E0D9"/>
            </a:solidFill>
            <a:prstDash val="solid"/>
          </a:ln>
        </p:spPr>
        <p:txBody>
          <a:bodyPr/>
          <a:lstStyle/>
          <a:p>
            <a:endParaRPr lang="en-US"/>
          </a:p>
        </p:txBody>
      </p:sp>
      <p:sp>
        <p:nvSpPr>
          <p:cNvPr id="6" name="Shape 3"/>
          <p:cNvSpPr/>
          <p:nvPr/>
        </p:nvSpPr>
        <p:spPr>
          <a:xfrm>
            <a:off x="7540554" y="1694693"/>
            <a:ext cx="3835478" cy="920765"/>
          </a:xfrm>
          <a:prstGeom prst="roundRect">
            <a:avLst>
              <a:gd name="adj" fmla="val 9310"/>
            </a:avLst>
          </a:prstGeom>
          <a:solidFill>
            <a:srgbClr val="FFFFFF"/>
          </a:solidFill>
          <a:ln w="6350">
            <a:solidFill>
              <a:srgbClr val="E2E0D9"/>
            </a:solidFill>
            <a:prstDash val="solid"/>
          </a:ln>
        </p:spPr>
        <p:txBody>
          <a:bodyPr/>
          <a:lstStyle/>
          <a:p>
            <a:endParaRPr lang="en-US"/>
          </a:p>
        </p:txBody>
      </p:sp>
      <p:sp>
        <p:nvSpPr>
          <p:cNvPr id="7" name="Text 4"/>
          <p:cNvSpPr/>
          <p:nvPr/>
        </p:nvSpPr>
        <p:spPr>
          <a:xfrm>
            <a:off x="7695567" y="1811573"/>
            <a:ext cx="3631217"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Before and after CLEAN</a:t>
            </a:r>
            <a:endParaRPr lang="en-US" sz="1400" dirty="0"/>
          </a:p>
        </p:txBody>
      </p:sp>
      <p:sp>
        <p:nvSpPr>
          <p:cNvPr id="8" name="Text 5"/>
          <p:cNvSpPr/>
          <p:nvPr/>
        </p:nvSpPr>
        <p:spPr>
          <a:xfrm>
            <a:off x="7695567" y="2071886"/>
            <a:ext cx="3631217"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one 100 ms dwell as a delay-Doppler map, then with the direct path subtracted</a:t>
            </a:r>
            <a:endParaRPr lang="en-US" sz="1200" dirty="0"/>
          </a:p>
        </p:txBody>
      </p:sp>
      <p:sp>
        <p:nvSpPr>
          <p:cNvPr id="9" name="Shape 6"/>
          <p:cNvSpPr/>
          <p:nvPr/>
        </p:nvSpPr>
        <p:spPr>
          <a:xfrm>
            <a:off x="7540554" y="2697981"/>
            <a:ext cx="3835478" cy="920765"/>
          </a:xfrm>
          <a:prstGeom prst="roundRect">
            <a:avLst>
              <a:gd name="adj" fmla="val 9310"/>
            </a:avLst>
          </a:prstGeom>
          <a:solidFill>
            <a:srgbClr val="FFFFFF"/>
          </a:solidFill>
          <a:ln w="6350">
            <a:solidFill>
              <a:srgbClr val="E2E0D9"/>
            </a:solidFill>
            <a:prstDash val="solid"/>
          </a:ln>
        </p:spPr>
        <p:txBody>
          <a:bodyPr/>
          <a:lstStyle/>
          <a:p>
            <a:endParaRPr lang="en-US"/>
          </a:p>
        </p:txBody>
      </p:sp>
      <p:sp>
        <p:nvSpPr>
          <p:cNvPr id="10" name="Text 7"/>
          <p:cNvSpPr/>
          <p:nvPr/>
        </p:nvSpPr>
        <p:spPr>
          <a:xfrm>
            <a:off x="7695567" y="2814861"/>
            <a:ext cx="3631217"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Micro-Doppler profile</a:t>
            </a:r>
            <a:endParaRPr lang="en-US" sz="1400" dirty="0"/>
          </a:p>
        </p:txBody>
      </p:sp>
      <p:sp>
        <p:nvSpPr>
          <p:cNvPr id="11" name="Text 8"/>
          <p:cNvSpPr/>
          <p:nvPr/>
        </p:nvSpPr>
        <p:spPr>
          <a:xfrm>
            <a:off x="7695567" y="3075174"/>
            <a:ext cx="3631217"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the Doppler cut at the direct path's delay cell, where the blade lives</a:t>
            </a:r>
            <a:endParaRPr lang="en-US" sz="1200" dirty="0"/>
          </a:p>
        </p:txBody>
      </p:sp>
      <p:sp>
        <p:nvSpPr>
          <p:cNvPr id="12" name="Shape 9"/>
          <p:cNvSpPr/>
          <p:nvPr/>
        </p:nvSpPr>
        <p:spPr>
          <a:xfrm>
            <a:off x="7540554" y="3701269"/>
            <a:ext cx="3835478" cy="920765"/>
          </a:xfrm>
          <a:prstGeom prst="roundRect">
            <a:avLst>
              <a:gd name="adj" fmla="val 9310"/>
            </a:avLst>
          </a:prstGeom>
          <a:solidFill>
            <a:srgbClr val="FFFFFF"/>
          </a:solidFill>
          <a:ln w="6350">
            <a:solidFill>
              <a:srgbClr val="E2E0D9"/>
            </a:solidFill>
            <a:prstDash val="solid"/>
          </a:ln>
        </p:spPr>
        <p:txBody>
          <a:bodyPr/>
          <a:lstStyle/>
          <a:p>
            <a:endParaRPr lang="en-US"/>
          </a:p>
        </p:txBody>
      </p:sp>
      <p:sp>
        <p:nvSpPr>
          <p:cNvPr id="13" name="Text 10"/>
          <p:cNvSpPr/>
          <p:nvPr/>
        </p:nvSpPr>
        <p:spPr>
          <a:xfrm>
            <a:off x="7695567" y="3818148"/>
            <a:ext cx="3631217"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Dwell by dwell</a:t>
            </a:r>
            <a:endParaRPr lang="en-US" sz="1400" dirty="0"/>
          </a:p>
        </p:txBody>
      </p:sp>
      <p:sp>
        <p:nvSpPr>
          <p:cNvPr id="14" name="Text 11"/>
          <p:cNvSpPr/>
          <p:nvPr/>
        </p:nvSpPr>
        <p:spPr>
          <a:xfrm>
            <a:off x="7695567" y="4078461"/>
            <a:ext cx="3631217"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direct path about 80 dB over noise; after CLEAN 32 to 49 dB</a:t>
            </a:r>
            <a:endParaRPr lang="en-US" sz="1200" dirty="0"/>
          </a:p>
        </p:txBody>
      </p:sp>
      <p:sp>
        <p:nvSpPr>
          <p:cNvPr id="15" name="Shape 12"/>
          <p:cNvSpPr/>
          <p:nvPr/>
        </p:nvSpPr>
        <p:spPr>
          <a:xfrm>
            <a:off x="7540554" y="4704556"/>
            <a:ext cx="3835478" cy="920765"/>
          </a:xfrm>
          <a:prstGeom prst="roundRect">
            <a:avLst>
              <a:gd name="adj" fmla="val 9310"/>
            </a:avLst>
          </a:prstGeom>
          <a:solidFill>
            <a:srgbClr val="FFFFFF"/>
          </a:solidFill>
          <a:ln w="6350">
            <a:solidFill>
              <a:srgbClr val="E2E0D9"/>
            </a:solidFill>
            <a:prstDash val="solid"/>
          </a:ln>
        </p:spPr>
        <p:txBody>
          <a:bodyPr/>
          <a:lstStyle/>
          <a:p>
            <a:endParaRPr lang="en-US"/>
          </a:p>
        </p:txBody>
      </p:sp>
      <p:sp>
        <p:nvSpPr>
          <p:cNvPr id="16" name="Text 13"/>
          <p:cNvSpPr/>
          <p:nvPr/>
        </p:nvSpPr>
        <p:spPr>
          <a:xfrm>
            <a:off x="7695567" y="4821436"/>
            <a:ext cx="3631217"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Status</a:t>
            </a:r>
            <a:endParaRPr lang="en-US" sz="1400" dirty="0"/>
          </a:p>
        </p:txBody>
      </p:sp>
      <p:sp>
        <p:nvSpPr>
          <p:cNvPr id="17" name="Text 14"/>
          <p:cNvSpPr/>
          <p:nvPr/>
        </p:nvSpPr>
        <p:spPr>
          <a:xfrm>
            <a:off x="7695567" y="5081749"/>
            <a:ext cx="3631217"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locked, residual delay −0.016 samples, residual Doppler +0.06 Hz</a:t>
            </a:r>
            <a:endParaRPr lang="en-US" sz="1200" dirty="0"/>
          </a:p>
        </p:txBody>
      </p:sp>
      <p:sp>
        <p:nvSpPr>
          <p:cNvPr id="18" name="Text 15"/>
          <p:cNvSpPr/>
          <p:nvPr/>
        </p:nvSpPr>
        <p:spPr>
          <a:xfrm>
            <a:off x="812765" y="6238280"/>
            <a:ext cx="7848582"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NTN ISAC in GNU Radio · GRCon 2026</a:t>
            </a:r>
            <a:endParaRPr lang="en-US" sz="1200" dirty="0"/>
          </a:p>
        </p:txBody>
      </p:sp>
      <p:sp>
        <p:nvSpPr>
          <p:cNvPr id="19" name="Text 16"/>
          <p:cNvSpPr/>
          <p:nvPr/>
        </p:nvSpPr>
        <p:spPr>
          <a:xfrm>
            <a:off x="10058426" y="6238280"/>
            <a:ext cx="1320782"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34" charset="0"/>
                <a:ea typeface="JetBrains Mono" pitchFamily="34" charset="-122"/>
                <a:cs typeface="JetBrains Mono" pitchFamily="34" charset="-120"/>
              </a:rPr>
              <a:t>20</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SIMULATION VS REAL RADIOS</a:t>
            </a:r>
            <a:endParaRPr lang="en-US" sz="1200" dirty="0"/>
          </a:p>
        </p:txBody>
      </p:sp>
      <p:sp>
        <p:nvSpPr>
          <p:cNvPr id="3" name="Text 1"/>
          <p:cNvSpPr/>
          <p:nvPr/>
        </p:nvSpPr>
        <p:spPr>
          <a:xfrm>
            <a:off x="812765" y="1071811"/>
            <a:ext cx="10883436" cy="416543"/>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72030"/>
                </a:solidFill>
                <a:latin typeface="IBM Plex Sans" pitchFamily="34" charset="0"/>
                <a:ea typeface="IBM Plex Sans" pitchFamily="34" charset="-122"/>
                <a:cs typeface="IBM Plex Sans" pitchFamily="34" charset="-120"/>
              </a:rPr>
              <a:t>Gain survives the hardware, cancellation does not</a:t>
            </a:r>
            <a:endParaRPr lang="en-US" sz="2800" dirty="0"/>
          </a:p>
        </p:txBody>
      </p:sp>
      <p:pic>
        <p:nvPicPr>
          <p:cNvPr id="4" name="Image 0" descr="Direct peak-to-noise and after-CLEAN depth for simulation, one radio and two hosts"/>
          <p:cNvPicPr>
            <a:picLocks noChangeAspect="1"/>
          </p:cNvPicPr>
          <p:nvPr/>
        </p:nvPicPr>
        <p:blipFill>
          <a:blip r:embed="rId3"/>
          <a:srcRect l="-50" r="-50"/>
          <a:stretch/>
        </p:blipFill>
        <p:spPr>
          <a:xfrm>
            <a:off x="819115" y="1697868"/>
            <a:ext cx="5740374" cy="3797291"/>
          </a:xfrm>
          <a:prstGeom prst="roundRect">
            <a:avLst>
              <a:gd name="adj" fmla="val 1839"/>
            </a:avLst>
          </a:prstGeom>
        </p:spPr>
      </p:pic>
      <p:sp>
        <p:nvSpPr>
          <p:cNvPr id="5" name="Shape 2"/>
          <p:cNvSpPr/>
          <p:nvPr/>
        </p:nvSpPr>
        <p:spPr>
          <a:xfrm>
            <a:off x="815940" y="1694693"/>
            <a:ext cx="5746724" cy="3803641"/>
          </a:xfrm>
          <a:prstGeom prst="roundRect">
            <a:avLst>
              <a:gd name="adj" fmla="val 1920"/>
            </a:avLst>
          </a:prstGeom>
          <a:noFill/>
          <a:ln w="6350">
            <a:solidFill>
              <a:srgbClr val="E2E0D9"/>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19808" y="1691518"/>
          <a:ext cx="4559400" cy="1539531"/>
        </p:xfrm>
        <a:graphic>
          <a:graphicData uri="http://schemas.openxmlformats.org/drawingml/2006/table">
            <a:tbl>
              <a:tblPr/>
              <a:tblGrid>
                <a:gridCol w="1550196">
                  <a:extLst>
                    <a:ext uri="{9D8B030D-6E8A-4147-A177-3AD203B41FA5}">
                      <a16:colId xmlns:a16="http://schemas.microsoft.com/office/drawing/2014/main" val="20000"/>
                    </a:ext>
                  </a:extLst>
                </a:gridCol>
                <a:gridCol w="1003068">
                  <a:extLst>
                    <a:ext uri="{9D8B030D-6E8A-4147-A177-3AD203B41FA5}">
                      <a16:colId xmlns:a16="http://schemas.microsoft.com/office/drawing/2014/main" val="20001"/>
                    </a:ext>
                  </a:extLst>
                </a:gridCol>
                <a:gridCol w="1003068">
                  <a:extLst>
                    <a:ext uri="{9D8B030D-6E8A-4147-A177-3AD203B41FA5}">
                      <a16:colId xmlns:a16="http://schemas.microsoft.com/office/drawing/2014/main" val="20002"/>
                    </a:ext>
                  </a:extLst>
                </a:gridCol>
                <a:gridCol w="1003068">
                  <a:extLst>
                    <a:ext uri="{9D8B030D-6E8A-4147-A177-3AD203B41FA5}">
                      <a16:colId xmlns:a16="http://schemas.microsoft.com/office/drawing/2014/main" val="20003"/>
                    </a:ext>
                  </a:extLst>
                </a:gridCol>
              </a:tblGrid>
              <a:tr h="331546">
                <a:tc>
                  <a:txBody>
                    <a:bodyPr/>
                    <a:lstStyle/>
                    <a:p>
                      <a:pPr marL="0" indent="0">
                        <a:lnSpc>
                          <a:spcPts val="1680"/>
                        </a:lnSpc>
                        <a:buNone/>
                      </a:pP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tc>
                  <a:txBody>
                    <a:bodyPr/>
                    <a:lstStyle/>
                    <a:p>
                      <a:pPr marL="0" indent="0" algn="r">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Sim.</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tc>
                  <a:txBody>
                    <a:bodyPr/>
                    <a:lstStyle/>
                    <a:p>
                      <a:pPr marL="0" indent="0" algn="r">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1 radio</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tc>
                  <a:txBody>
                    <a:bodyPr/>
                    <a:lstStyle/>
                    <a:p>
                      <a:pPr marL="0" indent="0" algn="r">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2 hosts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172030"/>
                    </a:solidFill>
                  </a:tcPr>
                </a:tc>
                <a:extLst>
                  <a:ext uri="{0D108BD9-81ED-4DB2-BD59-A6C34878D82A}">
                    <a16:rowId xmlns:a16="http://schemas.microsoft.com/office/drawing/2014/main" val="10000"/>
                  </a:ext>
                </a:extLst>
              </a:tr>
              <a:tr h="544893">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Direct peak-to-noise</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80.0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80.3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82.5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1546">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Cancellation depth</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73.6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38.6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34.8 dB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0EEE8"/>
                    </a:solidFill>
                  </a:tcPr>
                </a:tc>
                <a:extLst>
                  <a:ext uri="{0D108BD9-81ED-4DB2-BD59-A6C34878D82A}">
                    <a16:rowId xmlns:a16="http://schemas.microsoft.com/office/drawing/2014/main" val="10002"/>
                  </a:ext>
                </a:extLst>
              </a:tr>
              <a:tr h="331546">
                <a:tc>
                  <a:txBody>
                    <a:bodyPr/>
                    <a:lstStyle/>
                    <a:p>
                      <a:pPr marL="0" indent="0">
                        <a:lnSpc>
                          <a:spcPts val="1680"/>
                        </a:lnSpc>
                        <a:buNone/>
                      </a:pPr>
                      <a:r>
                        <a:rPr lang="en-US" sz="1200" dirty="0">
                          <a:solidFill>
                            <a:srgbClr val="172030"/>
                          </a:solidFill>
                          <a:latin typeface="IBM Plex Sans" pitchFamily="34" charset="0"/>
                          <a:ea typeface="IBM Plex Sans" pitchFamily="34" charset="-122"/>
                          <a:cs typeface="IBM Plex Sans" pitchFamily="34" charset="-120"/>
                        </a:rPr>
                        <a:t>Clock offset</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 0</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tc>
                  <a:txBody>
                    <a:bodyPr/>
                    <a:lstStyle/>
                    <a:p>
                      <a:pPr marL="0" indent="0" algn="r">
                        <a:lnSpc>
                          <a:spcPts val="1680"/>
                        </a:lnSpc>
                        <a:buNone/>
                      </a:pPr>
                      <a:r>
                        <a:rPr lang="en-US" sz="1200" dirty="0">
                          <a:solidFill>
                            <a:srgbClr val="172030"/>
                          </a:solidFill>
                          <a:latin typeface="IBM Plex Sans" pitchFamily="34" charset="0"/>
                          <a:ea typeface="IBM Plex Sans" pitchFamily="34" charset="-122"/>
                          <a:cs typeface="IBM Plex Sans" pitchFamily="34" charset="-120"/>
                        </a:rPr>
                        <a:t>1–3 ppb</a:t>
                      </a:r>
                      <a:endParaRPr lang="en-US" sz="1200" dirty="0">
                        <a:latin typeface="IBM Plex Sans" charset="0"/>
                        <a:ea typeface="IBM Plex Sans" charset="0"/>
                        <a:cs typeface="IBM Plex Sans" charset="0"/>
                      </a:endParaRPr>
                    </a:p>
                  </a:txBody>
                  <a:tcPr marL="53340" marR="53340" marT="53340" marB="53340">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3"/>
          <p:cNvSpPr/>
          <p:nvPr/>
        </p:nvSpPr>
        <p:spPr>
          <a:xfrm>
            <a:off x="6826158" y="3407172"/>
            <a:ext cx="4546700" cy="1014952"/>
          </a:xfrm>
          <a:prstGeom prst="roundRect">
            <a:avLst>
              <a:gd name="adj" fmla="val 8133"/>
            </a:avLst>
          </a:prstGeom>
          <a:solidFill>
            <a:srgbClr val="FFFFFF"/>
          </a:solidFill>
          <a:ln w="12700">
            <a:solidFill>
              <a:srgbClr val="B34E1B"/>
            </a:solidFill>
            <a:prstDash val="solid"/>
          </a:ln>
        </p:spPr>
        <p:txBody>
          <a:bodyPr/>
          <a:lstStyle/>
          <a:p>
            <a:endParaRPr lang="en-US"/>
          </a:p>
        </p:txBody>
      </p:sp>
      <p:sp>
        <p:nvSpPr>
          <p:cNvPr id="8" name="Text 4"/>
          <p:cNvSpPr/>
          <p:nvPr/>
        </p:nvSpPr>
        <p:spPr>
          <a:xfrm>
            <a:off x="7009198" y="3564806"/>
            <a:ext cx="4306039"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35 to 39 dB short of simulation</a:t>
            </a:r>
            <a:endParaRPr lang="en-US" sz="1400" dirty="0"/>
          </a:p>
        </p:txBody>
      </p:sp>
      <p:sp>
        <p:nvSpPr>
          <p:cNvPr id="9" name="Text 5"/>
          <p:cNvSpPr/>
          <p:nvPr/>
        </p:nvSpPr>
        <p:spPr>
          <a:xfrm>
            <a:off x="7009198" y="3837794"/>
            <a:ext cx="4306039"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reproduced on two machines and two operating systems, and again on two hosts with two independent clocks.</a:t>
            </a:r>
            <a:endParaRPr lang="en-US" sz="1200" dirty="0"/>
          </a:p>
        </p:txBody>
      </p:sp>
      <p:sp>
        <p:nvSpPr>
          <p:cNvPr id="10" name="Text 6"/>
          <p:cNvSpPr/>
          <p:nvPr/>
        </p:nvSpPr>
        <p:spPr>
          <a:xfrm>
            <a:off x="6819808" y="4580868"/>
            <a:ext cx="4696182"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Direct peak-to-noise: the receiver chain works on real RF. Cancellation depth: how far CLEAN pulls the direct path down.</a:t>
            </a:r>
            <a:endParaRPr lang="en-US" sz="1200" dirty="0"/>
          </a:p>
        </p:txBody>
      </p:sp>
      <p:sp>
        <p:nvSpPr>
          <p:cNvPr id="11" name="Text 7"/>
          <p:cNvSpPr/>
          <p:nvPr/>
        </p:nvSpPr>
        <p:spPr>
          <a:xfrm>
            <a:off x="812765" y="6238280"/>
            <a:ext cx="7848582"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NTN ISAC in GNU Radio · GRCon 2026</a:t>
            </a:r>
            <a:endParaRPr lang="en-US" sz="1200" dirty="0"/>
          </a:p>
        </p:txBody>
      </p:sp>
      <p:sp>
        <p:nvSpPr>
          <p:cNvPr id="12" name="Text 8"/>
          <p:cNvSpPr/>
          <p:nvPr/>
        </p:nvSpPr>
        <p:spPr>
          <a:xfrm>
            <a:off x="10058426" y="6238280"/>
            <a:ext cx="1320782"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34" charset="0"/>
                <a:ea typeface="JetBrains Mono" pitchFamily="34" charset="-122"/>
                <a:cs typeface="JetBrains Mono" pitchFamily="34" charset="-120"/>
              </a:rPr>
              <a:t>21</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5">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B34E1B"/>
                </a:solidFill>
                <a:latin typeface="IBM Plex Sans" pitchFamily="34" charset="0"/>
                <a:ea typeface="IBM Plex Sans" pitchFamily="34" charset="-122"/>
                <a:cs typeface="IBM Plex Sans" pitchFamily="34" charset="-120"/>
              </a:rPr>
              <a:t>NEXT STEPS</a:t>
            </a:r>
            <a:endParaRPr lang="en-US" sz="1200" dirty="0"/>
          </a:p>
        </p:txBody>
      </p:sp>
      <p:sp>
        <p:nvSpPr>
          <p:cNvPr id="3" name="Text 1"/>
          <p:cNvSpPr/>
          <p:nvPr/>
        </p:nvSpPr>
        <p:spPr>
          <a:xfrm>
            <a:off x="812765" y="1071811"/>
            <a:ext cx="10883436" cy="416543"/>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72030"/>
                </a:solidFill>
                <a:latin typeface="IBM Plex Sans" pitchFamily="34" charset="0"/>
                <a:ea typeface="IBM Plex Sans" pitchFamily="34" charset="-122"/>
                <a:cs typeface="IBM Plex Sans" pitchFamily="34" charset="-120"/>
              </a:rPr>
              <a:t>Where this goes next</a:t>
            </a:r>
            <a:endParaRPr lang="en-US" sz="2800" dirty="0"/>
          </a:p>
        </p:txBody>
      </p:sp>
      <p:sp>
        <p:nvSpPr>
          <p:cNvPr id="4" name="Shape 2"/>
          <p:cNvSpPr/>
          <p:nvPr/>
        </p:nvSpPr>
        <p:spPr>
          <a:xfrm>
            <a:off x="2180324" y="1884904"/>
            <a:ext cx="3407824" cy="1441645"/>
          </a:xfrm>
          <a:prstGeom prst="roundRect">
            <a:avLst>
              <a:gd name="adj" fmla="val 5726"/>
            </a:avLst>
          </a:prstGeom>
          <a:solidFill>
            <a:srgbClr val="FFFFFF"/>
          </a:solidFill>
          <a:ln w="12700">
            <a:solidFill>
              <a:srgbClr val="B34E1B"/>
            </a:solidFill>
            <a:prstDash val="solid"/>
          </a:ln>
        </p:spPr>
        <p:txBody>
          <a:bodyPr/>
          <a:lstStyle/>
          <a:p>
            <a:endParaRPr lang="en-US"/>
          </a:p>
        </p:txBody>
      </p:sp>
      <p:sp>
        <p:nvSpPr>
          <p:cNvPr id="5" name="Text 3"/>
          <p:cNvSpPr/>
          <p:nvPr/>
        </p:nvSpPr>
        <p:spPr>
          <a:xfrm>
            <a:off x="2363364" y="2042538"/>
            <a:ext cx="3132996"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Combine several devices</a:t>
            </a:r>
            <a:endParaRPr lang="en-US" sz="1400" dirty="0"/>
          </a:p>
        </p:txBody>
      </p:sp>
      <p:sp>
        <p:nvSpPr>
          <p:cNvPr id="6" name="Text 4"/>
          <p:cNvSpPr/>
          <p:nvPr/>
        </p:nvSpPr>
        <p:spPr>
          <a:xfrm>
            <a:off x="2363364" y="2315526"/>
            <a:ext cx="3132996" cy="87878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one receiver only gives excess range. Several receivers, and several illuminators, can intersect those measurements into positions and fuse detections.</a:t>
            </a:r>
            <a:endParaRPr lang="en-US" sz="1200" dirty="0"/>
          </a:p>
        </p:txBody>
      </p:sp>
      <p:sp>
        <p:nvSpPr>
          <p:cNvPr id="7" name="Shape 5"/>
          <p:cNvSpPr/>
          <p:nvPr/>
        </p:nvSpPr>
        <p:spPr>
          <a:xfrm>
            <a:off x="5750063" y="1881729"/>
            <a:ext cx="3414219" cy="1447995"/>
          </a:xfrm>
          <a:prstGeom prst="roundRect">
            <a:avLst>
              <a:gd name="adj" fmla="val 5920"/>
            </a:avLst>
          </a:prstGeom>
          <a:solidFill>
            <a:srgbClr val="FFFFFF"/>
          </a:solidFill>
          <a:ln w="6350">
            <a:solidFill>
              <a:srgbClr val="E2E0D9"/>
            </a:solidFill>
            <a:prstDash val="solid"/>
          </a:ln>
        </p:spPr>
        <p:txBody>
          <a:bodyPr/>
          <a:lstStyle/>
          <a:p>
            <a:endParaRPr lang="en-US"/>
          </a:p>
        </p:txBody>
      </p:sp>
      <p:sp>
        <p:nvSpPr>
          <p:cNvPr id="8" name="Text 6"/>
          <p:cNvSpPr/>
          <p:nvPr/>
        </p:nvSpPr>
        <p:spPr>
          <a:xfrm>
            <a:off x="5930482" y="2036734"/>
            <a:ext cx="3144984"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Close the cancellation gap</a:t>
            </a:r>
            <a:endParaRPr lang="en-US" sz="1400" dirty="0"/>
          </a:p>
        </p:txBody>
      </p:sp>
      <p:sp>
        <p:nvSpPr>
          <p:cNvPr id="9" name="Text 7"/>
          <p:cNvSpPr/>
          <p:nvPr/>
        </p:nvSpPr>
        <p:spPr>
          <a:xfrm>
            <a:off x="5930482" y="2309734"/>
            <a:ext cx="3144984"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model the front end (band response, phase noise), terminate spare ports, re-measure</a:t>
            </a:r>
            <a:endParaRPr lang="en-US" sz="1200" dirty="0"/>
          </a:p>
        </p:txBody>
      </p:sp>
      <p:sp>
        <p:nvSpPr>
          <p:cNvPr id="13" name="Shape 11"/>
          <p:cNvSpPr/>
          <p:nvPr/>
        </p:nvSpPr>
        <p:spPr>
          <a:xfrm>
            <a:off x="2177149" y="3488465"/>
            <a:ext cx="3414174" cy="1223055"/>
          </a:xfrm>
          <a:prstGeom prst="roundRect">
            <a:avLst>
              <a:gd name="adj" fmla="val 7009"/>
            </a:avLst>
          </a:prstGeom>
          <a:solidFill>
            <a:srgbClr val="FFFFFF"/>
          </a:solidFill>
          <a:ln w="6350">
            <a:solidFill>
              <a:srgbClr val="E2E0D9"/>
            </a:solidFill>
            <a:prstDash val="solid"/>
          </a:ln>
        </p:spPr>
        <p:txBody>
          <a:bodyPr/>
          <a:lstStyle/>
          <a:p>
            <a:endParaRPr lang="en-US"/>
          </a:p>
        </p:txBody>
      </p:sp>
      <p:sp>
        <p:nvSpPr>
          <p:cNvPr id="14" name="Text 12"/>
          <p:cNvSpPr/>
          <p:nvPr/>
        </p:nvSpPr>
        <p:spPr>
          <a:xfrm>
            <a:off x="2357567" y="3643470"/>
            <a:ext cx="3144937"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Real NTN signals</a:t>
            </a:r>
            <a:endParaRPr lang="en-US" sz="1400" dirty="0"/>
          </a:p>
        </p:txBody>
      </p:sp>
      <p:sp>
        <p:nvSpPr>
          <p:cNvPr id="15" name="Text 13"/>
          <p:cNvSpPr/>
          <p:nvPr/>
        </p:nvSpPr>
        <p:spPr>
          <a:xfrm>
            <a:off x="2357567" y="3916470"/>
            <a:ext cx="3144937" cy="6654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the file contract (waveform file plus traj.csv) is designed to let a real or recorded downlink replace the generator</a:t>
            </a:r>
            <a:endParaRPr lang="en-US" sz="1200" dirty="0"/>
          </a:p>
        </p:txBody>
      </p:sp>
      <p:sp>
        <p:nvSpPr>
          <p:cNvPr id="16" name="Shape 14"/>
          <p:cNvSpPr/>
          <p:nvPr/>
        </p:nvSpPr>
        <p:spPr>
          <a:xfrm>
            <a:off x="5750063" y="3488465"/>
            <a:ext cx="3414219" cy="1223055"/>
          </a:xfrm>
          <a:prstGeom prst="roundRect">
            <a:avLst>
              <a:gd name="adj" fmla="val 7009"/>
            </a:avLst>
          </a:prstGeom>
          <a:solidFill>
            <a:srgbClr val="FFFFFF"/>
          </a:solidFill>
          <a:ln w="6350">
            <a:solidFill>
              <a:srgbClr val="E2E0D9"/>
            </a:solidFill>
            <a:prstDash val="solid"/>
          </a:ln>
        </p:spPr>
        <p:txBody>
          <a:bodyPr/>
          <a:lstStyle/>
          <a:p>
            <a:endParaRPr lang="en-US"/>
          </a:p>
        </p:txBody>
      </p:sp>
      <p:sp>
        <p:nvSpPr>
          <p:cNvPr id="17" name="Text 15"/>
          <p:cNvSpPr/>
          <p:nvPr/>
        </p:nvSpPr>
        <p:spPr>
          <a:xfrm>
            <a:off x="5930482" y="3643470"/>
            <a:ext cx="3144984"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72030"/>
                </a:solidFill>
                <a:latin typeface="IBM Plex Sans" pitchFamily="34" charset="0"/>
                <a:ea typeface="IBM Plex Sans" pitchFamily="34" charset="-122"/>
                <a:cs typeface="IBM Plex Sans" pitchFamily="34" charset="-120"/>
              </a:rPr>
              <a:t>Outdoors</a:t>
            </a:r>
            <a:endParaRPr lang="en-US" sz="1400" dirty="0"/>
          </a:p>
        </p:txBody>
      </p:sp>
      <p:sp>
        <p:nvSpPr>
          <p:cNvPr id="18" name="Text 16"/>
          <p:cNvSpPr/>
          <p:nvPr/>
        </p:nvSpPr>
        <p:spPr>
          <a:xfrm>
            <a:off x="5930482" y="3916470"/>
            <a:ext cx="3144984"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264"/>
                </a:solidFill>
                <a:latin typeface="IBM Plex Sans" pitchFamily="34" charset="0"/>
                <a:ea typeface="IBM Plex Sans" pitchFamily="34" charset="-122"/>
                <a:cs typeface="IBM Plex Sans" pitchFamily="34" charset="-120"/>
              </a:rPr>
              <a:t>a geometry where delay becomes observable, not just Doppler</a:t>
            </a:r>
            <a:endParaRPr lang="en-US" sz="1200" dirty="0"/>
          </a:p>
        </p:txBody>
      </p:sp>
      <p:sp>
        <p:nvSpPr>
          <p:cNvPr id="22" name="Text 20"/>
          <p:cNvSpPr/>
          <p:nvPr/>
        </p:nvSpPr>
        <p:spPr>
          <a:xfrm>
            <a:off x="812765" y="6238280"/>
            <a:ext cx="7848582"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NTN ISAC in GNU Radio · GRCon 2026</a:t>
            </a:r>
            <a:endParaRPr lang="en-US" sz="1200" dirty="0"/>
          </a:p>
        </p:txBody>
      </p:sp>
      <p:sp>
        <p:nvSpPr>
          <p:cNvPr id="23" name="Text 21"/>
          <p:cNvSpPr/>
          <p:nvPr/>
        </p:nvSpPr>
        <p:spPr>
          <a:xfrm>
            <a:off x="10058426" y="6238280"/>
            <a:ext cx="1320782" cy="238747"/>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JetBrains Mono" pitchFamily="34" charset="0"/>
                <a:ea typeface="JetBrains Mono" pitchFamily="34" charset="-122"/>
                <a:cs typeface="JetBrains Mono" pitchFamily="34" charset="-120"/>
              </a:rPr>
              <a:t>25</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6">
    <p:bg>
      <p:bgPr>
        <a:solidFill>
          <a:srgbClr val="111A27"/>
        </a:solidFill>
        <a:effectLst/>
      </p:bgPr>
    </p:bg>
    <p:spTree>
      <p:nvGrpSpPr>
        <p:cNvPr id="1" name=""/>
        <p:cNvGrpSpPr/>
        <p:nvPr/>
      </p:nvGrpSpPr>
      <p:grpSpPr>
        <a:xfrm>
          <a:off x="0" y="0"/>
          <a:ext cx="0" cy="0"/>
          <a:chOff x="0" y="0"/>
          <a:chExt cx="0" cy="0"/>
        </a:xfrm>
      </p:grpSpPr>
      <p:sp>
        <p:nvSpPr>
          <p:cNvPr id="2" name="Text 0"/>
          <p:cNvSpPr/>
          <p:nvPr/>
        </p:nvSpPr>
        <p:spPr>
          <a:xfrm>
            <a:off x="812765" y="812763"/>
            <a:ext cx="10883436" cy="208269"/>
          </a:xfrm>
          <a:prstGeom prst="rect">
            <a:avLst/>
          </a:prstGeom>
          <a:noFill/>
          <a:ln/>
        </p:spPr>
        <p:txBody>
          <a:bodyPr wrap="square" lIns="0" tIns="0" rIns="0" bIns="0" rtlCol="0" anchor="t">
            <a:normAutofit/>
          </a:bodyPr>
          <a:lstStyle/>
          <a:p>
            <a:pPr marL="0" indent="0" algn="l">
              <a:lnSpc>
                <a:spcPts val="1440"/>
              </a:lnSpc>
              <a:buNone/>
            </a:pPr>
            <a:r>
              <a:rPr lang="en-US" sz="1200" b="1" kern="0" spc="150" dirty="0">
                <a:solidFill>
                  <a:srgbClr val="F2935C"/>
                </a:solidFill>
                <a:latin typeface="IBM Plex Sans" pitchFamily="34" charset="0"/>
                <a:ea typeface="IBM Plex Sans" pitchFamily="34" charset="-122"/>
                <a:cs typeface="IBM Plex Sans" pitchFamily="34" charset="-120"/>
              </a:rPr>
              <a:t>LET'S BUILD IT IN THE OPEN</a:t>
            </a:r>
            <a:endParaRPr lang="en-US" sz="1200" dirty="0"/>
          </a:p>
        </p:txBody>
      </p:sp>
      <p:sp>
        <p:nvSpPr>
          <p:cNvPr id="3" name="Text 1"/>
          <p:cNvSpPr/>
          <p:nvPr/>
        </p:nvSpPr>
        <p:spPr>
          <a:xfrm>
            <a:off x="812765" y="1071811"/>
            <a:ext cx="10883436" cy="416543"/>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3F1EC"/>
                </a:solidFill>
                <a:latin typeface="IBM Plex Sans" pitchFamily="34" charset="0"/>
                <a:ea typeface="IBM Plex Sans" pitchFamily="34" charset="-122"/>
                <a:cs typeface="IBM Plex Sans" pitchFamily="34" charset="-120"/>
              </a:rPr>
              <a:t>Help build open NTN and ISAC blocks for GNU Radio</a:t>
            </a:r>
            <a:endParaRPr lang="en-US" sz="2800" dirty="0"/>
          </a:p>
        </p:txBody>
      </p:sp>
      <p:sp>
        <p:nvSpPr>
          <p:cNvPr id="4" name="Shape 2"/>
          <p:cNvSpPr/>
          <p:nvPr/>
        </p:nvSpPr>
        <p:spPr>
          <a:xfrm>
            <a:off x="779346" y="1983928"/>
            <a:ext cx="5200653" cy="1009708"/>
          </a:xfrm>
          <a:prstGeom prst="roundRect">
            <a:avLst>
              <a:gd name="adj" fmla="val 8490"/>
            </a:avLst>
          </a:prstGeom>
          <a:solidFill>
            <a:srgbClr val="1C2738"/>
          </a:solidFill>
          <a:ln w="6350">
            <a:solidFill>
              <a:srgbClr val="33425A"/>
            </a:solidFill>
            <a:prstDash val="solid"/>
          </a:ln>
        </p:spPr>
        <p:txBody>
          <a:bodyPr/>
          <a:lstStyle/>
          <a:p>
            <a:endParaRPr lang="en-US"/>
          </a:p>
        </p:txBody>
      </p:sp>
      <p:sp>
        <p:nvSpPr>
          <p:cNvPr id="5" name="Text 3"/>
          <p:cNvSpPr/>
          <p:nvPr/>
        </p:nvSpPr>
        <p:spPr>
          <a:xfrm>
            <a:off x="959764" y="2138933"/>
            <a:ext cx="4985011"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F3F1EC"/>
                </a:solidFill>
                <a:latin typeface="IBM Plex Sans" pitchFamily="34" charset="0"/>
                <a:ea typeface="IBM Plex Sans" pitchFamily="34" charset="-122"/>
                <a:cs typeface="IBM Plex Sans" pitchFamily="34" charset="-120"/>
              </a:rPr>
              <a:t>3GPP NTN channel models</a:t>
            </a:r>
            <a:endParaRPr lang="en-US" sz="1400" dirty="0"/>
          </a:p>
        </p:txBody>
      </p:sp>
      <p:sp>
        <p:nvSpPr>
          <p:cNvPr id="6" name="Text 4"/>
          <p:cNvSpPr/>
          <p:nvPr/>
        </p:nvSpPr>
        <p:spPr>
          <a:xfrm>
            <a:off x="959764" y="2411921"/>
            <a:ext cx="4985011"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2DE"/>
                </a:solidFill>
                <a:latin typeface="IBM Plex Sans" pitchFamily="34" charset="0"/>
                <a:ea typeface="IBM Plex Sans" pitchFamily="34" charset="-122"/>
                <a:cs typeface="IBM Plex Sans" pitchFamily="34" charset="-120"/>
              </a:rPr>
              <a:t>TR 38.811 NTN-TDL and NTN-CDL, and TR 38.821 scenarios, as GNU Radio blocks</a:t>
            </a:r>
            <a:endParaRPr lang="en-US" sz="1200" dirty="0"/>
          </a:p>
        </p:txBody>
      </p:sp>
      <p:sp>
        <p:nvSpPr>
          <p:cNvPr id="7" name="Shape 5"/>
          <p:cNvSpPr/>
          <p:nvPr/>
        </p:nvSpPr>
        <p:spPr>
          <a:xfrm>
            <a:off x="6138740" y="1983928"/>
            <a:ext cx="5200699" cy="1009708"/>
          </a:xfrm>
          <a:prstGeom prst="roundRect">
            <a:avLst>
              <a:gd name="adj" fmla="val 8490"/>
            </a:avLst>
          </a:prstGeom>
          <a:solidFill>
            <a:srgbClr val="1C2738"/>
          </a:solidFill>
          <a:ln w="6350">
            <a:solidFill>
              <a:srgbClr val="33425A"/>
            </a:solidFill>
            <a:prstDash val="solid"/>
          </a:ln>
        </p:spPr>
        <p:txBody>
          <a:bodyPr/>
          <a:lstStyle/>
          <a:p>
            <a:endParaRPr lang="en-US"/>
          </a:p>
        </p:txBody>
      </p:sp>
      <p:sp>
        <p:nvSpPr>
          <p:cNvPr id="8" name="Text 6"/>
          <p:cNvSpPr/>
          <p:nvPr/>
        </p:nvSpPr>
        <p:spPr>
          <a:xfrm>
            <a:off x="6319158" y="2138933"/>
            <a:ext cx="4985058"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F3F1EC"/>
                </a:solidFill>
                <a:latin typeface="IBM Plex Sans" pitchFamily="34" charset="0"/>
                <a:ea typeface="IBM Plex Sans" pitchFamily="34" charset="-122"/>
                <a:cs typeface="IBM Plex Sans" pitchFamily="34" charset="-120"/>
              </a:rPr>
              <a:t>Real-time NTN emulation</a:t>
            </a:r>
            <a:endParaRPr lang="en-US" sz="1400" dirty="0"/>
          </a:p>
        </p:txBody>
      </p:sp>
      <p:sp>
        <p:nvSpPr>
          <p:cNvPr id="9" name="Text 7"/>
          <p:cNvSpPr/>
          <p:nvPr/>
        </p:nvSpPr>
        <p:spPr>
          <a:xfrm>
            <a:off x="6319158" y="2411921"/>
            <a:ext cx="4985058"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2DE"/>
                </a:solidFill>
                <a:latin typeface="IBM Plex Sans" pitchFamily="34" charset="0"/>
                <a:ea typeface="IBM Plex Sans" pitchFamily="34" charset="-122"/>
                <a:cs typeface="IBM Plex Sans" pitchFamily="34" charset="-120"/>
              </a:rPr>
              <a:t>satellite passes, delay and Doppler, beams and handovers on SDR hardware</a:t>
            </a:r>
            <a:endParaRPr lang="en-US" sz="1200" dirty="0"/>
          </a:p>
        </p:txBody>
      </p:sp>
      <p:sp>
        <p:nvSpPr>
          <p:cNvPr id="10" name="Shape 8"/>
          <p:cNvSpPr/>
          <p:nvPr/>
        </p:nvSpPr>
        <p:spPr>
          <a:xfrm>
            <a:off x="779346" y="3152366"/>
            <a:ext cx="5200653" cy="1009708"/>
          </a:xfrm>
          <a:prstGeom prst="roundRect">
            <a:avLst>
              <a:gd name="adj" fmla="val 8490"/>
            </a:avLst>
          </a:prstGeom>
          <a:solidFill>
            <a:srgbClr val="1C2738"/>
          </a:solidFill>
          <a:ln w="6350">
            <a:solidFill>
              <a:srgbClr val="33425A"/>
            </a:solidFill>
            <a:prstDash val="solid"/>
          </a:ln>
        </p:spPr>
        <p:txBody>
          <a:bodyPr/>
          <a:lstStyle/>
          <a:p>
            <a:endParaRPr lang="en-US"/>
          </a:p>
        </p:txBody>
      </p:sp>
      <p:sp>
        <p:nvSpPr>
          <p:cNvPr id="11" name="Text 9"/>
          <p:cNvSpPr/>
          <p:nvPr/>
        </p:nvSpPr>
        <p:spPr>
          <a:xfrm>
            <a:off x="959764" y="3307383"/>
            <a:ext cx="4985011"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F3F1EC"/>
                </a:solidFill>
                <a:latin typeface="IBM Plex Sans" pitchFamily="34" charset="0"/>
                <a:ea typeface="IBM Plex Sans" pitchFamily="34" charset="-122"/>
                <a:cs typeface="IBM Plex Sans" pitchFamily="34" charset="-120"/>
              </a:rPr>
              <a:t>ISAC channel models</a:t>
            </a:r>
            <a:endParaRPr lang="en-US" sz="1400" dirty="0"/>
          </a:p>
        </p:txBody>
      </p:sp>
      <p:sp>
        <p:nvSpPr>
          <p:cNvPr id="12" name="Text 10"/>
          <p:cNvSpPr/>
          <p:nvPr/>
        </p:nvSpPr>
        <p:spPr>
          <a:xfrm>
            <a:off x="959764" y="3580371"/>
            <a:ext cx="4985011" cy="2387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2DE"/>
                </a:solidFill>
                <a:latin typeface="IBM Plex Sans" pitchFamily="34" charset="0"/>
                <a:ea typeface="IBM Plex Sans" pitchFamily="34" charset="-122"/>
                <a:cs typeface="IBM Plex Sans" pitchFamily="34" charset="-120"/>
              </a:rPr>
              <a:t>3GPP Rel-19 target and background channels (TR 38.901, section 7.9)</a:t>
            </a:r>
            <a:endParaRPr lang="en-US" sz="1200" dirty="0"/>
          </a:p>
        </p:txBody>
      </p:sp>
      <p:sp>
        <p:nvSpPr>
          <p:cNvPr id="13" name="Shape 11"/>
          <p:cNvSpPr/>
          <p:nvPr/>
        </p:nvSpPr>
        <p:spPr>
          <a:xfrm>
            <a:off x="6138740" y="3152366"/>
            <a:ext cx="5200699" cy="1009708"/>
          </a:xfrm>
          <a:prstGeom prst="roundRect">
            <a:avLst>
              <a:gd name="adj" fmla="val 8490"/>
            </a:avLst>
          </a:prstGeom>
          <a:solidFill>
            <a:srgbClr val="1C2738"/>
          </a:solidFill>
          <a:ln w="6350">
            <a:solidFill>
              <a:srgbClr val="33425A"/>
            </a:solidFill>
            <a:prstDash val="solid"/>
          </a:ln>
        </p:spPr>
        <p:txBody>
          <a:bodyPr/>
          <a:lstStyle/>
          <a:p>
            <a:endParaRPr lang="en-US"/>
          </a:p>
        </p:txBody>
      </p:sp>
      <p:sp>
        <p:nvSpPr>
          <p:cNvPr id="14" name="Text 12"/>
          <p:cNvSpPr/>
          <p:nvPr/>
        </p:nvSpPr>
        <p:spPr>
          <a:xfrm>
            <a:off x="6319158" y="3307383"/>
            <a:ext cx="4985058" cy="247623"/>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F3F1EC"/>
                </a:solidFill>
                <a:latin typeface="IBM Plex Sans" pitchFamily="34" charset="0"/>
                <a:ea typeface="IBM Plex Sans" pitchFamily="34" charset="-122"/>
                <a:cs typeface="IBM Plex Sans" pitchFamily="34" charset="-120"/>
              </a:rPr>
              <a:t>Receivers, detectors and data</a:t>
            </a:r>
            <a:endParaRPr lang="en-US" sz="1400" dirty="0"/>
          </a:p>
        </p:txBody>
      </p:sp>
      <p:sp>
        <p:nvSpPr>
          <p:cNvPr id="15" name="Text 13"/>
          <p:cNvSpPr/>
          <p:nvPr/>
        </p:nvSpPr>
        <p:spPr>
          <a:xfrm>
            <a:off x="6319158" y="3580371"/>
            <a:ext cx="4985058" cy="45209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2DE"/>
                </a:solidFill>
                <a:latin typeface="IBM Plex Sans" pitchFamily="34" charset="0"/>
                <a:ea typeface="IBM Plex Sans" pitchFamily="34" charset="-122"/>
                <a:cs typeface="IBM Plex Sans" pitchFamily="34" charset="-120"/>
              </a:rPr>
              <a:t>better cancellers, trackers and multi-receiver fusion, and shared captures to test them on</a:t>
            </a:r>
            <a:endParaRPr lang="en-US" sz="1200" dirty="0"/>
          </a:p>
        </p:txBody>
      </p:sp>
      <p:sp>
        <p:nvSpPr>
          <p:cNvPr id="16" name="Text 14"/>
          <p:cNvSpPr/>
          <p:nvPr/>
        </p:nvSpPr>
        <p:spPr>
          <a:xfrm>
            <a:off x="779346" y="5263926"/>
            <a:ext cx="5316654" cy="334771"/>
          </a:xfrm>
          <a:prstGeom prst="rect">
            <a:avLst/>
          </a:prstGeom>
          <a:noFill/>
          <a:ln/>
        </p:spPr>
        <p:txBody>
          <a:bodyPr wrap="square" lIns="0" tIns="0" rIns="0" bIns="0" rtlCol="0" anchor="t">
            <a:normAutofit/>
          </a:bodyPr>
          <a:lstStyle/>
          <a:p>
            <a:pPr>
              <a:lnSpc>
                <a:spcPts val="1960"/>
              </a:lnSpc>
            </a:pPr>
            <a:r>
              <a:rPr lang="en-US" sz="1400" dirty="0">
                <a:solidFill>
                  <a:srgbClr val="F2935C"/>
                </a:solidFill>
                <a:latin typeface="JetBrains Mono" pitchFamily="34" charset="0"/>
                <a:ea typeface="JetBrains Mono" pitchFamily="34" charset="-122"/>
                <a:cs typeface="JetBrains Mono" pitchFamily="34" charset="-120"/>
              </a:rPr>
              <a:t>https://github.com/soham12112/NTN_ISAC_GRCON26</a:t>
            </a:r>
            <a:endParaRPr lang="en-US" sz="1400" dirty="0"/>
          </a:p>
        </p:txBody>
      </p:sp>
      <p:sp>
        <p:nvSpPr>
          <p:cNvPr id="17" name="Text 15"/>
          <p:cNvSpPr/>
          <p:nvPr/>
        </p:nvSpPr>
        <p:spPr>
          <a:xfrm>
            <a:off x="4411500" y="5941653"/>
            <a:ext cx="2872528"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chemeClr val="bg1"/>
                </a:solidFill>
                <a:latin typeface="IBM Plex Sans" pitchFamily="34" charset="0"/>
                <a:ea typeface="IBM Plex Sans" pitchFamily="34" charset="-122"/>
                <a:cs typeface="IBM Plex Sans" pitchFamily="34" charset="-120"/>
              </a:rPr>
              <a:t>Soham</a:t>
            </a:r>
          </a:p>
          <a:p>
            <a:pPr marL="0" indent="0" algn="l">
              <a:lnSpc>
                <a:spcPts val="1960"/>
              </a:lnSpc>
              <a:buNone/>
            </a:pPr>
            <a:endParaRPr lang="en-US" sz="1400" dirty="0"/>
          </a:p>
        </p:txBody>
      </p:sp>
      <p:sp>
        <p:nvSpPr>
          <p:cNvPr id="18" name="Text 16"/>
          <p:cNvSpPr/>
          <p:nvPr/>
        </p:nvSpPr>
        <p:spPr>
          <a:xfrm>
            <a:off x="9557178" y="5796322"/>
            <a:ext cx="1876691"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F1EC"/>
                </a:solidFill>
                <a:latin typeface="IBM Plex Sans" pitchFamily="34" charset="0"/>
                <a:ea typeface="IBM Plex Sans" pitchFamily="34" charset="-122"/>
                <a:cs typeface="IBM Plex Sans" pitchFamily="34" charset="-120"/>
              </a:rPr>
              <a:t>Thank you · Questions</a:t>
            </a:r>
            <a:endParaRPr lang="en-US" sz="1400" dirty="0"/>
          </a:p>
        </p:txBody>
      </p:sp>
      <p:sp>
        <p:nvSpPr>
          <p:cNvPr id="20" name="Text 15">
            <a:extLst>
              <a:ext uri="{FF2B5EF4-FFF2-40B4-BE49-F238E27FC236}">
                <a16:creationId xmlns:a16="http://schemas.microsoft.com/office/drawing/2014/main" id="{0CC0730B-EE80-7CC3-1595-263B9780A836}"/>
              </a:ext>
            </a:extLst>
          </p:cNvPr>
          <p:cNvSpPr/>
          <p:nvPr/>
        </p:nvSpPr>
        <p:spPr>
          <a:xfrm>
            <a:off x="2907106" y="6232683"/>
            <a:ext cx="3188894" cy="27429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F1EC"/>
                </a:solidFill>
                <a:latin typeface="IBM Plex Sans" pitchFamily="34" charset="0"/>
                <a:ea typeface="IBM Plex Sans" pitchFamily="34" charset="-122"/>
                <a:cs typeface="IBM Plex Sans" pitchFamily="34" charset="-120"/>
              </a:rPr>
              <a:t>soham.d.desai@gmail.com</a:t>
            </a:r>
          </a:p>
          <a:p>
            <a:pPr marL="0" indent="0" algn="l">
              <a:lnSpc>
                <a:spcPts val="1960"/>
              </a:lnSpc>
              <a:buNone/>
            </a:pPr>
            <a:endParaRPr lang="en-US" sz="1400" b="1" dirty="0">
              <a:solidFill>
                <a:srgbClr val="F3F1EC"/>
              </a:solidFill>
              <a:latin typeface="IBM Plex Sans" pitchFamily="34" charset="0"/>
              <a:ea typeface="IBM Plex Sans" pitchFamily="34" charset="-122"/>
              <a:cs typeface="IBM Plex Sans" pitchFamily="34" charset="-120"/>
            </a:endParaRPr>
          </a:p>
          <a:p>
            <a:pPr marL="0" indent="0" algn="l">
              <a:lnSpc>
                <a:spcPts val="1960"/>
              </a:lnSpc>
              <a:buNone/>
            </a:pPr>
            <a:endParaRPr lang="en-US" sz="1400" dirty="0"/>
          </a:p>
        </p:txBody>
      </p:sp>
      <p:sp>
        <p:nvSpPr>
          <p:cNvPr id="21" name="Text 15">
            <a:extLst>
              <a:ext uri="{FF2B5EF4-FFF2-40B4-BE49-F238E27FC236}">
                <a16:creationId xmlns:a16="http://schemas.microsoft.com/office/drawing/2014/main" id="{35A5C15A-FD3D-B8AD-1E3A-8C1C024B2E25}"/>
              </a:ext>
            </a:extLst>
          </p:cNvPr>
          <p:cNvSpPr/>
          <p:nvPr/>
        </p:nvSpPr>
        <p:spPr>
          <a:xfrm>
            <a:off x="5397491" y="6215950"/>
            <a:ext cx="3188894" cy="274297"/>
          </a:xfrm>
          <a:prstGeom prst="rect">
            <a:avLst/>
          </a:prstGeom>
          <a:noFill/>
          <a:ln/>
        </p:spPr>
        <p:txBody>
          <a:bodyPr wrap="square" lIns="0" tIns="0" rIns="0" bIns="0" rtlCol="0" anchor="t">
            <a:normAutofit/>
          </a:bodyPr>
          <a:lstStyle/>
          <a:p>
            <a:pPr marL="0" indent="0" algn="l">
              <a:lnSpc>
                <a:spcPts val="1960"/>
              </a:lnSpc>
              <a:buNone/>
            </a:pPr>
            <a:endParaRPr lang="en-US" sz="1400" b="1" dirty="0">
              <a:solidFill>
                <a:srgbClr val="F3F1EC"/>
              </a:solidFill>
              <a:latin typeface="IBM Plex Sans" pitchFamily="34" charset="0"/>
              <a:ea typeface="IBM Plex Sans" pitchFamily="34" charset="-122"/>
              <a:cs typeface="IBM Plex Sans" pitchFamily="34" charset="-120"/>
            </a:endParaRPr>
          </a:p>
          <a:p>
            <a:pPr marL="0" indent="0" algn="l">
              <a:lnSpc>
                <a:spcPts val="1960"/>
              </a:lnSpc>
              <a:buNone/>
            </a:pP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TotalTime>
  <Words>7579</Words>
  <Application>Microsoft Macintosh PowerPoint</Application>
  <PresentationFormat>Widescreen</PresentationFormat>
  <Paragraphs>416</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IBM Plex Sans</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NTN ISAC in GNU Radio</dc:title>
  <dc:subject>PptxGenJS Presentation</dc:subject>
  <dc:creator>PptxGenJS</dc:creator>
  <cp:lastModifiedBy>Soham Desai</cp:lastModifiedBy>
  <cp:revision>7</cp:revision>
  <dcterms:created xsi:type="dcterms:W3CDTF">2026-09-24T15:21:37Z</dcterms:created>
  <dcterms:modified xsi:type="dcterms:W3CDTF">2026-10-13T03:22:04Z</dcterms:modified>
</cp:coreProperties>
</file>